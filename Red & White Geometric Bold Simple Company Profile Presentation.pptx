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9" r:id="rId3"/>
    <p:sldId id="258" r:id="rId4"/>
    <p:sldId id="264" r:id="rId5"/>
    <p:sldId id="275" r:id="rId6"/>
    <p:sldId id="265" r:id="rId7"/>
    <p:sldId id="266" r:id="rId8"/>
    <p:sldId id="271" r:id="rId9"/>
    <p:sldId id="273" r:id="rId10"/>
    <p:sldId id="272" r:id="rId11"/>
    <p:sldId id="274" r:id="rId12"/>
    <p:sldId id="270" r:id="rId13"/>
  </p:sldIdLst>
  <p:sldSz cx="18288000" cy="10287000"/>
  <p:notesSz cx="6858000" cy="9144000"/>
  <p:embeddedFontLst>
    <p:embeddedFont>
      <p:font typeface="Canva Sans" panose="020B0503030501040103" pitchFamily="34" charset="0"/>
      <p:regular r:id="rId15"/>
    </p:embeddedFont>
    <p:embeddedFont>
      <p:font typeface="Canva Sans Bold" panose="020B0803030501040103" pitchFamily="34" charset="0"/>
      <p:regular r:id="rId16"/>
    </p:embeddedFont>
    <p:embeddedFont>
      <p:font typeface="Palatino Linotype" panose="02040502050505030304" pitchFamily="18" charset="0"/>
      <p:regular r:id="rId17"/>
      <p:bold r:id="rId18"/>
      <p:italic r:id="rId19"/>
      <p:boldItalic r:id="rId20"/>
    </p:embeddedFont>
    <p:embeddedFont>
      <p:font typeface="Perpetua" panose="02020502060401020303" pitchFamily="18" charset="0"/>
      <p:regular r:id="rId21"/>
      <p:bold r:id="rId22"/>
      <p:italic r:id="rId23"/>
      <p:boldItalic r:id="rId24"/>
    </p:embeddedFont>
    <p:embeddedFont>
      <p:font typeface="Poppins" panose="00000500000000000000" pitchFamily="2" charset="0"/>
      <p:regular r:id="rId25"/>
      <p:bold r:id="rId26"/>
      <p:italic r:id="rId27"/>
      <p:boldItalic r:id="rId28"/>
    </p:embeddedFont>
    <p:embeddedFont>
      <p:font typeface="Poppins Bold" pitchFamily="2"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8D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99" autoAdjust="0"/>
    <p:restoredTop sz="94622" autoAdjust="0"/>
  </p:normalViewPr>
  <p:slideViewPr>
    <p:cSldViewPr>
      <p:cViewPr varScale="1">
        <p:scale>
          <a:sx n="59" d="100"/>
          <a:sy n="59" d="100"/>
        </p:scale>
        <p:origin x="523"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4.fntdata" /><Relationship Id="rId26" Type="http://schemas.openxmlformats.org/officeDocument/2006/relationships/font" Target="fonts/font12.fntdata" /><Relationship Id="rId3" Type="http://schemas.openxmlformats.org/officeDocument/2006/relationships/slide" Target="slides/slide2.xml" /><Relationship Id="rId21" Type="http://schemas.openxmlformats.org/officeDocument/2006/relationships/font" Target="fonts/font7.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3.fntdata" /><Relationship Id="rId25" Type="http://schemas.openxmlformats.org/officeDocument/2006/relationships/font" Target="fonts/font11.fntdata" /><Relationship Id="rId33"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font" Target="fonts/font2.fntdata" /><Relationship Id="rId20" Type="http://schemas.openxmlformats.org/officeDocument/2006/relationships/font" Target="fonts/font6.fntdata" /><Relationship Id="rId29" Type="http://schemas.openxmlformats.org/officeDocument/2006/relationships/font" Target="fonts/font15.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10.fntdata" /><Relationship Id="rId32"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font" Target="fonts/font1.fntdata" /><Relationship Id="rId23" Type="http://schemas.openxmlformats.org/officeDocument/2006/relationships/font" Target="fonts/font9.fntdata" /><Relationship Id="rId28" Type="http://schemas.openxmlformats.org/officeDocument/2006/relationships/font" Target="fonts/font14.fntdata" /><Relationship Id="rId10" Type="http://schemas.openxmlformats.org/officeDocument/2006/relationships/slide" Target="slides/slide9.xml" /><Relationship Id="rId19" Type="http://schemas.openxmlformats.org/officeDocument/2006/relationships/font" Target="fonts/font5.fntdata" /><Relationship Id="rId3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notesMaster" Target="notesMasters/notesMaster1.xml" /><Relationship Id="rId22" Type="http://schemas.openxmlformats.org/officeDocument/2006/relationships/font" Target="fonts/font8.fntdata" /><Relationship Id="rId27" Type="http://schemas.openxmlformats.org/officeDocument/2006/relationships/font" Target="fonts/font13.fntdata" /><Relationship Id="rId3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4A2CCD-58C0-4906-AAB3-1C6248703AA1}"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5052EF-D344-44B3-92B8-E2FAAA3F6F3B}" type="slidenum">
              <a:rPr lang="en-US" smtClean="0"/>
              <a:t>‹#›</a:t>
            </a:fld>
            <a:endParaRPr lang="en-US"/>
          </a:p>
        </p:txBody>
      </p:sp>
    </p:spTree>
    <p:extLst>
      <p:ext uri="{BB962C8B-B14F-4D97-AF65-F5344CB8AC3E}">
        <p14:creationId xmlns:p14="http://schemas.microsoft.com/office/powerpoint/2010/main" val="1262534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5052EF-D344-44B3-92B8-E2FAAA3F6F3B}" type="slidenum">
              <a:rPr lang="en-US" smtClean="0"/>
              <a:t>8</a:t>
            </a:fld>
            <a:endParaRPr lang="en-US"/>
          </a:p>
        </p:txBody>
      </p:sp>
    </p:spTree>
    <p:extLst>
      <p:ext uri="{BB962C8B-B14F-4D97-AF65-F5344CB8AC3E}">
        <p14:creationId xmlns:p14="http://schemas.microsoft.com/office/powerpoint/2010/main" val="2636627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56265-A512-CCF8-8C8A-CD6C2056D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7158F-77F6-7353-64C9-86350ACEEF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3190D-4F60-FAE2-BEAC-5322C77339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746843-0EA7-B243-E8B2-4B86CC9811BE}"/>
              </a:ext>
            </a:extLst>
          </p:cNvPr>
          <p:cNvSpPr>
            <a:spLocks noGrp="1"/>
          </p:cNvSpPr>
          <p:nvPr>
            <p:ph type="sldNum" sz="quarter" idx="5"/>
          </p:nvPr>
        </p:nvSpPr>
        <p:spPr/>
        <p:txBody>
          <a:bodyPr/>
          <a:lstStyle/>
          <a:p>
            <a:fld id="{125052EF-D344-44B3-92B8-E2FAAA3F6F3B}" type="slidenum">
              <a:rPr lang="en-US" smtClean="0"/>
              <a:t>9</a:t>
            </a:fld>
            <a:endParaRPr lang="en-US"/>
          </a:p>
        </p:txBody>
      </p:sp>
    </p:spTree>
    <p:extLst>
      <p:ext uri="{BB962C8B-B14F-4D97-AF65-F5344CB8AC3E}">
        <p14:creationId xmlns:p14="http://schemas.microsoft.com/office/powerpoint/2010/main" val="4014381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DE4AE-0070-7EEA-3CBC-6EC09ABEC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C2F03-9B75-32C3-13D4-68C9BCFB1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DDFA51-14A8-F84B-C111-E4325D7344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A66CA2-2820-CD53-D6EB-94C8188F82AA}"/>
              </a:ext>
            </a:extLst>
          </p:cNvPr>
          <p:cNvSpPr>
            <a:spLocks noGrp="1"/>
          </p:cNvSpPr>
          <p:nvPr>
            <p:ph type="sldNum" sz="quarter" idx="5"/>
          </p:nvPr>
        </p:nvSpPr>
        <p:spPr/>
        <p:txBody>
          <a:bodyPr/>
          <a:lstStyle/>
          <a:p>
            <a:fld id="{125052EF-D344-44B3-92B8-E2FAAA3F6F3B}" type="slidenum">
              <a:rPr lang="en-US" smtClean="0"/>
              <a:t>10</a:t>
            </a:fld>
            <a:endParaRPr lang="en-US"/>
          </a:p>
        </p:txBody>
      </p:sp>
    </p:spTree>
    <p:extLst>
      <p:ext uri="{BB962C8B-B14F-4D97-AF65-F5344CB8AC3E}">
        <p14:creationId xmlns:p14="http://schemas.microsoft.com/office/powerpoint/2010/main" val="3529930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6B4F3-4289-1A74-477C-19CF70C81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7D956-0370-442E-2B98-2D0C9551C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7646F-9F31-EE62-104D-E4BACFEC34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4C7255-FFE8-9BF7-E832-774FAE654542}"/>
              </a:ext>
            </a:extLst>
          </p:cNvPr>
          <p:cNvSpPr>
            <a:spLocks noGrp="1"/>
          </p:cNvSpPr>
          <p:nvPr>
            <p:ph type="sldNum" sz="quarter" idx="5"/>
          </p:nvPr>
        </p:nvSpPr>
        <p:spPr/>
        <p:txBody>
          <a:bodyPr/>
          <a:lstStyle/>
          <a:p>
            <a:fld id="{125052EF-D344-44B3-92B8-E2FAAA3F6F3B}" type="slidenum">
              <a:rPr lang="en-US" smtClean="0"/>
              <a:t>11</a:t>
            </a:fld>
            <a:endParaRPr lang="en-US"/>
          </a:p>
        </p:txBody>
      </p:sp>
    </p:spTree>
    <p:extLst>
      <p:ext uri="{BB962C8B-B14F-4D97-AF65-F5344CB8AC3E}">
        <p14:creationId xmlns:p14="http://schemas.microsoft.com/office/powerpoint/2010/main" val="2474382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image" Target="../media/image2.jpg" /><Relationship Id="rId1" Type="http://schemas.openxmlformats.org/officeDocument/2006/relationships/slideLayout" Target="../slideLayouts/slideLayout7.xml" /><Relationship Id="rId4" Type="http://schemas.openxmlformats.org/officeDocument/2006/relationships/image" Target="../media/image4.jpg" /></Relationships>
</file>

<file path=ppt/slides/_rels/slide3.xml.rels><?xml version="1.0" encoding="UTF-8" standalone="yes"?>
<Relationships xmlns="http://schemas.openxmlformats.org/package/2006/relationships"><Relationship Id="rId3" Type="http://schemas.openxmlformats.org/officeDocument/2006/relationships/image" Target="../media/image6.jpg" /><Relationship Id="rId2" Type="http://schemas.openxmlformats.org/officeDocument/2006/relationships/image" Target="../media/image5.jpe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hyperlink" Target="https://catalog.data.gov/dataset/?tags=tesla" TargetMode="External" /><Relationship Id="rId2" Type="http://schemas.openxmlformats.org/officeDocument/2006/relationships/hyperlink" Target="https://www.investing.com/" TargetMode="Externa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611945">
            <a:off x="14458950" y="4723039"/>
            <a:ext cx="7658100" cy="5426529"/>
            <a:chOff x="0" y="0"/>
            <a:chExt cx="2016948" cy="1429209"/>
          </a:xfrm>
        </p:grpSpPr>
        <p:sp>
          <p:nvSpPr>
            <p:cNvPr id="3" name="Freeform 3"/>
            <p:cNvSpPr/>
            <p:nvPr/>
          </p:nvSpPr>
          <p:spPr>
            <a:xfrm>
              <a:off x="0" y="0"/>
              <a:ext cx="2016948" cy="1429209"/>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txBody>
            <a:bodyPr/>
            <a:lstStyle/>
            <a:p>
              <a:endParaRPr lang="en-US" dirty="0"/>
            </a:p>
          </p:txBody>
        </p:sp>
        <p:sp>
          <p:nvSpPr>
            <p:cNvPr id="4" name="TextBox 4"/>
            <p:cNvSpPr txBox="1"/>
            <p:nvPr/>
          </p:nvSpPr>
          <p:spPr>
            <a:xfrm>
              <a:off x="0" y="-333375"/>
              <a:ext cx="2016948" cy="1762584"/>
            </a:xfrm>
            <a:prstGeom prst="rect">
              <a:avLst/>
            </a:prstGeom>
          </p:spPr>
          <p:txBody>
            <a:bodyPr lIns="50800" tIns="50800" rIns="50800" bIns="50800" rtlCol="0" anchor="ctr"/>
            <a:lstStyle/>
            <a:p>
              <a:pPr algn="ctr">
                <a:lnSpc>
                  <a:spcPts val="6249"/>
                </a:lnSpc>
              </a:pPr>
              <a:endParaRPr/>
            </a:p>
          </p:txBody>
        </p:sp>
      </p:grpSp>
      <p:grpSp>
        <p:nvGrpSpPr>
          <p:cNvPr id="5" name="Group 5"/>
          <p:cNvGrpSpPr/>
          <p:nvPr/>
        </p:nvGrpSpPr>
        <p:grpSpPr>
          <a:xfrm rot="-2611945">
            <a:off x="-614581" y="-1866767"/>
            <a:ext cx="3031341" cy="2798456"/>
            <a:chOff x="0" y="0"/>
            <a:chExt cx="798378" cy="737042"/>
          </a:xfrm>
        </p:grpSpPr>
        <p:sp>
          <p:nvSpPr>
            <p:cNvPr id="6" name="Freeform 6"/>
            <p:cNvSpPr/>
            <p:nvPr/>
          </p:nvSpPr>
          <p:spPr>
            <a:xfrm>
              <a:off x="0" y="0"/>
              <a:ext cx="798378" cy="737042"/>
            </a:xfrm>
            <a:custGeom>
              <a:avLst/>
              <a:gdLst/>
              <a:ahLst/>
              <a:cxnLst/>
              <a:rect l="l" t="t" r="r" b="b"/>
              <a:pathLst>
                <a:path w="798378" h="737042">
                  <a:moveTo>
                    <a:pt x="130252" y="0"/>
                  </a:moveTo>
                  <a:lnTo>
                    <a:pt x="668126" y="0"/>
                  </a:lnTo>
                  <a:cubicBezTo>
                    <a:pt x="702671" y="0"/>
                    <a:pt x="735801" y="13723"/>
                    <a:pt x="760228" y="38150"/>
                  </a:cubicBezTo>
                  <a:cubicBezTo>
                    <a:pt x="784655" y="62577"/>
                    <a:pt x="798378" y="95707"/>
                    <a:pt x="798378" y="130252"/>
                  </a:cubicBezTo>
                  <a:lnTo>
                    <a:pt x="798378" y="606790"/>
                  </a:lnTo>
                  <a:cubicBezTo>
                    <a:pt x="798378" y="678726"/>
                    <a:pt x="740062" y="737042"/>
                    <a:pt x="668126" y="737042"/>
                  </a:cubicBezTo>
                  <a:lnTo>
                    <a:pt x="130252" y="737042"/>
                  </a:lnTo>
                  <a:cubicBezTo>
                    <a:pt x="58316" y="737042"/>
                    <a:pt x="0" y="678726"/>
                    <a:pt x="0" y="606790"/>
                  </a:cubicBezTo>
                  <a:lnTo>
                    <a:pt x="0" y="130252"/>
                  </a:lnTo>
                  <a:cubicBezTo>
                    <a:pt x="0" y="58316"/>
                    <a:pt x="58316" y="0"/>
                    <a:pt x="130252" y="0"/>
                  </a:cubicBezTo>
                  <a:close/>
                </a:path>
              </a:pathLst>
            </a:custGeom>
            <a:solidFill>
              <a:srgbClr val="8D0000"/>
            </a:solidFill>
          </p:spPr>
          <p:txBody>
            <a:bodyPr/>
            <a:lstStyle/>
            <a:p>
              <a:endParaRPr lang="en-US"/>
            </a:p>
          </p:txBody>
        </p:sp>
        <p:sp>
          <p:nvSpPr>
            <p:cNvPr id="7" name="TextBox 7"/>
            <p:cNvSpPr txBox="1"/>
            <p:nvPr/>
          </p:nvSpPr>
          <p:spPr>
            <a:xfrm>
              <a:off x="0" y="-333375"/>
              <a:ext cx="798378" cy="1070417"/>
            </a:xfrm>
            <a:prstGeom prst="rect">
              <a:avLst/>
            </a:prstGeom>
          </p:spPr>
          <p:txBody>
            <a:bodyPr lIns="50800" tIns="50800" rIns="50800" bIns="50800" rtlCol="0" anchor="ctr"/>
            <a:lstStyle/>
            <a:p>
              <a:pPr algn="ctr">
                <a:lnSpc>
                  <a:spcPts val="6249"/>
                </a:lnSpc>
              </a:pPr>
              <a:endParaRPr/>
            </a:p>
          </p:txBody>
        </p:sp>
      </p:grpSp>
      <p:grpSp>
        <p:nvGrpSpPr>
          <p:cNvPr id="8" name="Group 8"/>
          <p:cNvGrpSpPr/>
          <p:nvPr/>
        </p:nvGrpSpPr>
        <p:grpSpPr>
          <a:xfrm rot="-2611945">
            <a:off x="12055325" y="9566947"/>
            <a:ext cx="3031341" cy="2798456"/>
            <a:chOff x="0" y="0"/>
            <a:chExt cx="798378" cy="737042"/>
          </a:xfrm>
        </p:grpSpPr>
        <p:sp>
          <p:nvSpPr>
            <p:cNvPr id="9" name="Freeform 9"/>
            <p:cNvSpPr/>
            <p:nvPr/>
          </p:nvSpPr>
          <p:spPr>
            <a:xfrm>
              <a:off x="0" y="0"/>
              <a:ext cx="798378" cy="737042"/>
            </a:xfrm>
            <a:custGeom>
              <a:avLst/>
              <a:gdLst/>
              <a:ahLst/>
              <a:cxnLst/>
              <a:rect l="l" t="t" r="r" b="b"/>
              <a:pathLst>
                <a:path w="798378" h="737042">
                  <a:moveTo>
                    <a:pt x="130252" y="0"/>
                  </a:moveTo>
                  <a:lnTo>
                    <a:pt x="668126" y="0"/>
                  </a:lnTo>
                  <a:cubicBezTo>
                    <a:pt x="702671" y="0"/>
                    <a:pt x="735801" y="13723"/>
                    <a:pt x="760228" y="38150"/>
                  </a:cubicBezTo>
                  <a:cubicBezTo>
                    <a:pt x="784655" y="62577"/>
                    <a:pt x="798378" y="95707"/>
                    <a:pt x="798378" y="130252"/>
                  </a:cubicBezTo>
                  <a:lnTo>
                    <a:pt x="798378" y="606790"/>
                  </a:lnTo>
                  <a:cubicBezTo>
                    <a:pt x="798378" y="678726"/>
                    <a:pt x="740062" y="737042"/>
                    <a:pt x="668126" y="737042"/>
                  </a:cubicBezTo>
                  <a:lnTo>
                    <a:pt x="130252" y="737042"/>
                  </a:lnTo>
                  <a:cubicBezTo>
                    <a:pt x="58316" y="737042"/>
                    <a:pt x="0" y="678726"/>
                    <a:pt x="0" y="606790"/>
                  </a:cubicBezTo>
                  <a:lnTo>
                    <a:pt x="0" y="130252"/>
                  </a:lnTo>
                  <a:cubicBezTo>
                    <a:pt x="0" y="58316"/>
                    <a:pt x="58316" y="0"/>
                    <a:pt x="130252" y="0"/>
                  </a:cubicBezTo>
                  <a:close/>
                </a:path>
              </a:pathLst>
            </a:custGeom>
            <a:solidFill>
              <a:srgbClr val="C27F7F"/>
            </a:solidFill>
          </p:spPr>
          <p:txBody>
            <a:bodyPr/>
            <a:lstStyle/>
            <a:p>
              <a:endParaRPr lang="en-US"/>
            </a:p>
          </p:txBody>
        </p:sp>
        <p:sp>
          <p:nvSpPr>
            <p:cNvPr id="10" name="TextBox 10"/>
            <p:cNvSpPr txBox="1"/>
            <p:nvPr/>
          </p:nvSpPr>
          <p:spPr>
            <a:xfrm>
              <a:off x="0" y="-333375"/>
              <a:ext cx="798378" cy="1070417"/>
            </a:xfrm>
            <a:prstGeom prst="rect">
              <a:avLst/>
            </a:prstGeom>
          </p:spPr>
          <p:txBody>
            <a:bodyPr lIns="50800" tIns="50800" rIns="50800" bIns="50800" rtlCol="0" anchor="ctr"/>
            <a:lstStyle/>
            <a:p>
              <a:pPr algn="ctr">
                <a:lnSpc>
                  <a:spcPts val="6249"/>
                </a:lnSpc>
              </a:pPr>
              <a:endParaRPr/>
            </a:p>
          </p:txBody>
        </p:sp>
      </p:grpSp>
      <p:sp>
        <p:nvSpPr>
          <p:cNvPr id="11" name="AutoShape 11"/>
          <p:cNvSpPr/>
          <p:nvPr/>
        </p:nvSpPr>
        <p:spPr>
          <a:xfrm>
            <a:off x="1371600" y="6437925"/>
            <a:ext cx="11811000" cy="1"/>
          </a:xfrm>
          <a:prstGeom prst="line">
            <a:avLst/>
          </a:prstGeom>
          <a:ln w="47625" cap="flat">
            <a:solidFill>
              <a:srgbClr val="000000"/>
            </a:solidFill>
            <a:prstDash val="sysDash"/>
            <a:headEnd type="none" w="sm" len="sm"/>
            <a:tailEnd type="none" w="sm" len="sm"/>
          </a:ln>
        </p:spPr>
        <p:txBody>
          <a:bodyPr/>
          <a:lstStyle/>
          <a:p>
            <a:endParaRPr lang="en-US"/>
          </a:p>
        </p:txBody>
      </p:sp>
      <p:grpSp>
        <p:nvGrpSpPr>
          <p:cNvPr id="12" name="Group 12"/>
          <p:cNvGrpSpPr/>
          <p:nvPr/>
        </p:nvGrpSpPr>
        <p:grpSpPr>
          <a:xfrm rot="-2611945">
            <a:off x="12744473" y="42362"/>
            <a:ext cx="8101900" cy="3702724"/>
            <a:chOff x="0" y="0"/>
            <a:chExt cx="2133834" cy="975203"/>
          </a:xfrm>
        </p:grpSpPr>
        <p:sp>
          <p:nvSpPr>
            <p:cNvPr id="13" name="Freeform 13"/>
            <p:cNvSpPr/>
            <p:nvPr/>
          </p:nvSpPr>
          <p:spPr>
            <a:xfrm>
              <a:off x="0" y="0"/>
              <a:ext cx="2133834" cy="975203"/>
            </a:xfrm>
            <a:custGeom>
              <a:avLst/>
              <a:gdLst/>
              <a:ahLst/>
              <a:cxnLst/>
              <a:rect l="l" t="t" r="r" b="b"/>
              <a:pathLst>
                <a:path w="2133834" h="975203">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C27F7F"/>
            </a:solidFill>
          </p:spPr>
          <p:txBody>
            <a:bodyPr/>
            <a:lstStyle/>
            <a:p>
              <a:endParaRPr lang="en-US" dirty="0"/>
            </a:p>
          </p:txBody>
        </p:sp>
        <p:sp>
          <p:nvSpPr>
            <p:cNvPr id="14" name="TextBox 14"/>
            <p:cNvSpPr txBox="1"/>
            <p:nvPr/>
          </p:nvSpPr>
          <p:spPr>
            <a:xfrm>
              <a:off x="0" y="-333375"/>
              <a:ext cx="2133834" cy="1308578"/>
            </a:xfrm>
            <a:prstGeom prst="rect">
              <a:avLst/>
            </a:prstGeom>
          </p:spPr>
          <p:txBody>
            <a:bodyPr lIns="50800" tIns="50800" rIns="50800" bIns="50800" rtlCol="0" anchor="ctr"/>
            <a:lstStyle/>
            <a:p>
              <a:pPr algn="ctr">
                <a:lnSpc>
                  <a:spcPts val="6249"/>
                </a:lnSpc>
              </a:pPr>
              <a:endParaRPr/>
            </a:p>
          </p:txBody>
        </p:sp>
      </p:grpSp>
      <p:grpSp>
        <p:nvGrpSpPr>
          <p:cNvPr id="15" name="Group 15"/>
          <p:cNvGrpSpPr/>
          <p:nvPr/>
        </p:nvGrpSpPr>
        <p:grpSpPr>
          <a:xfrm rot="-2789597">
            <a:off x="3022879" y="1307360"/>
            <a:ext cx="606050" cy="530294"/>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8D0000"/>
            </a:solidFill>
          </p:spPr>
          <p:txBody>
            <a:bodyPr/>
            <a:lstStyle/>
            <a:p>
              <a:endParaRPr lang="en-US" dirty="0"/>
            </a:p>
          </p:txBody>
        </p:sp>
        <p:sp>
          <p:nvSpPr>
            <p:cNvPr id="17" name="TextBox 17"/>
            <p:cNvSpPr txBox="1"/>
            <p:nvPr/>
          </p:nvSpPr>
          <p:spPr>
            <a:xfrm>
              <a:off x="127000" y="-3175"/>
              <a:ext cx="558800" cy="663575"/>
            </a:xfrm>
            <a:prstGeom prst="rect">
              <a:avLst/>
            </a:prstGeom>
          </p:spPr>
          <p:txBody>
            <a:bodyPr lIns="50800" tIns="50800" rIns="50800" bIns="50800" rtlCol="0" anchor="ctr"/>
            <a:lstStyle/>
            <a:p>
              <a:pPr algn="ctr">
                <a:lnSpc>
                  <a:spcPts val="6249"/>
                </a:lnSpc>
              </a:pPr>
              <a:endParaRPr/>
            </a:p>
          </p:txBody>
        </p:sp>
      </p:grpSp>
      <p:sp>
        <p:nvSpPr>
          <p:cNvPr id="18" name="TextBox 18"/>
          <p:cNvSpPr txBox="1"/>
          <p:nvPr/>
        </p:nvSpPr>
        <p:spPr>
          <a:xfrm>
            <a:off x="2963666" y="2631888"/>
            <a:ext cx="8544752" cy="1865054"/>
          </a:xfrm>
          <a:prstGeom prst="rect">
            <a:avLst/>
          </a:prstGeom>
        </p:spPr>
        <p:txBody>
          <a:bodyPr lIns="0" tIns="0" rIns="0" bIns="0" rtlCol="0" anchor="t">
            <a:spAutoFit/>
          </a:bodyPr>
          <a:lstStyle/>
          <a:p>
            <a:pPr algn="l">
              <a:lnSpc>
                <a:spcPts val="15326"/>
              </a:lnSpc>
            </a:pPr>
            <a:r>
              <a:rPr lang="en-US" sz="10947" b="1" dirty="0">
                <a:solidFill>
                  <a:srgbClr val="000000"/>
                </a:solidFill>
                <a:latin typeface="Canva Sans Bold"/>
                <a:ea typeface="Canva Sans Bold"/>
                <a:cs typeface="Canva Sans Bold"/>
                <a:sym typeface="Canva Sans Bold"/>
              </a:rPr>
              <a:t>TESLA </a:t>
            </a:r>
          </a:p>
        </p:txBody>
      </p:sp>
      <p:sp>
        <p:nvSpPr>
          <p:cNvPr id="19" name="TextBox 19"/>
          <p:cNvSpPr txBox="1"/>
          <p:nvPr/>
        </p:nvSpPr>
        <p:spPr>
          <a:xfrm>
            <a:off x="3011301" y="4314131"/>
            <a:ext cx="9524466" cy="1526059"/>
          </a:xfrm>
          <a:prstGeom prst="rect">
            <a:avLst/>
          </a:prstGeom>
        </p:spPr>
        <p:txBody>
          <a:bodyPr lIns="0" tIns="0" rIns="0" bIns="0" rtlCol="0" anchor="t">
            <a:spAutoFit/>
          </a:bodyPr>
          <a:lstStyle/>
          <a:p>
            <a:pPr algn="l">
              <a:lnSpc>
                <a:spcPts val="11926"/>
              </a:lnSpc>
            </a:pPr>
            <a:r>
              <a:rPr lang="en-US" sz="10000" b="1" spc="2457" dirty="0">
                <a:solidFill>
                  <a:srgbClr val="8D0000"/>
                </a:solidFill>
                <a:latin typeface="Poppins Bold"/>
                <a:ea typeface="Poppins Bold"/>
                <a:cs typeface="Poppins Bold"/>
                <a:sym typeface="Poppins Bold"/>
              </a:rPr>
              <a:t>Overview</a:t>
            </a:r>
          </a:p>
        </p:txBody>
      </p:sp>
      <p:grpSp>
        <p:nvGrpSpPr>
          <p:cNvPr id="25" name="Group 25"/>
          <p:cNvGrpSpPr/>
          <p:nvPr/>
        </p:nvGrpSpPr>
        <p:grpSpPr>
          <a:xfrm rot="-2611945">
            <a:off x="10808920" y="-3972270"/>
            <a:ext cx="8101900" cy="3702724"/>
            <a:chOff x="0" y="0"/>
            <a:chExt cx="2133834" cy="975203"/>
          </a:xfrm>
        </p:grpSpPr>
        <p:sp>
          <p:nvSpPr>
            <p:cNvPr id="26" name="Freeform 26"/>
            <p:cNvSpPr/>
            <p:nvPr/>
          </p:nvSpPr>
          <p:spPr>
            <a:xfrm>
              <a:off x="0" y="0"/>
              <a:ext cx="2133834" cy="975203"/>
            </a:xfrm>
            <a:custGeom>
              <a:avLst/>
              <a:gdLst/>
              <a:ahLst/>
              <a:cxnLst/>
              <a:rect l="l" t="t" r="r" b="b"/>
              <a:pathLst>
                <a:path w="2133834" h="975203">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FFE9E9"/>
            </a:solidFill>
          </p:spPr>
          <p:txBody>
            <a:bodyPr/>
            <a:lstStyle/>
            <a:p>
              <a:endParaRPr lang="en-US"/>
            </a:p>
          </p:txBody>
        </p:sp>
        <p:sp>
          <p:nvSpPr>
            <p:cNvPr id="27" name="TextBox 27"/>
            <p:cNvSpPr txBox="1"/>
            <p:nvPr/>
          </p:nvSpPr>
          <p:spPr>
            <a:xfrm>
              <a:off x="0" y="-333375"/>
              <a:ext cx="2133834" cy="1308578"/>
            </a:xfrm>
            <a:prstGeom prst="rect">
              <a:avLst/>
            </a:prstGeom>
          </p:spPr>
          <p:txBody>
            <a:bodyPr lIns="50800" tIns="50800" rIns="50800" bIns="50800" rtlCol="0" anchor="ctr"/>
            <a:lstStyle/>
            <a:p>
              <a:pPr algn="ctr">
                <a:lnSpc>
                  <a:spcPts val="6249"/>
                </a:lnSpc>
              </a:pPr>
              <a:endParaRPr/>
            </a:p>
          </p:txBody>
        </p:sp>
      </p:grpSp>
      <p:grpSp>
        <p:nvGrpSpPr>
          <p:cNvPr id="28" name="Group 28"/>
          <p:cNvGrpSpPr/>
          <p:nvPr/>
        </p:nvGrpSpPr>
        <p:grpSpPr>
          <a:xfrm rot="-2611945">
            <a:off x="-6084265" y="7881699"/>
            <a:ext cx="8101900" cy="3702724"/>
            <a:chOff x="0" y="0"/>
            <a:chExt cx="2133834" cy="975203"/>
          </a:xfrm>
        </p:grpSpPr>
        <p:sp>
          <p:nvSpPr>
            <p:cNvPr id="29" name="Freeform 29"/>
            <p:cNvSpPr/>
            <p:nvPr/>
          </p:nvSpPr>
          <p:spPr>
            <a:xfrm>
              <a:off x="0" y="0"/>
              <a:ext cx="2133834" cy="975203"/>
            </a:xfrm>
            <a:custGeom>
              <a:avLst/>
              <a:gdLst/>
              <a:ahLst/>
              <a:cxnLst/>
              <a:rect l="l" t="t" r="r" b="b"/>
              <a:pathLst>
                <a:path w="2133834" h="975203">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FFE9E9"/>
            </a:solidFill>
          </p:spPr>
          <p:txBody>
            <a:bodyPr/>
            <a:lstStyle/>
            <a:p>
              <a:endParaRPr lang="en-US"/>
            </a:p>
          </p:txBody>
        </p:sp>
        <p:sp>
          <p:nvSpPr>
            <p:cNvPr id="30" name="TextBox 30"/>
            <p:cNvSpPr txBox="1"/>
            <p:nvPr/>
          </p:nvSpPr>
          <p:spPr>
            <a:xfrm>
              <a:off x="0" y="-333375"/>
              <a:ext cx="2133834" cy="1308578"/>
            </a:xfrm>
            <a:prstGeom prst="rect">
              <a:avLst/>
            </a:prstGeom>
          </p:spPr>
          <p:txBody>
            <a:bodyPr lIns="50800" tIns="50800" rIns="50800" bIns="50800" rtlCol="0" anchor="ctr"/>
            <a:lstStyle/>
            <a:p>
              <a:pPr algn="ctr">
                <a:lnSpc>
                  <a:spcPts val="6249"/>
                </a:lnSpc>
              </a:pPr>
              <a:endParaRPr/>
            </a:p>
          </p:txBody>
        </p:sp>
      </p:grpSp>
      <p:pic>
        <p:nvPicPr>
          <p:cNvPr id="32" name="Picture 31" descr="A red logo with a white background&#10;&#10;AI-generated content may be incorrect.">
            <a:extLst>
              <a:ext uri="{FF2B5EF4-FFF2-40B4-BE49-F238E27FC236}">
                <a16:creationId xmlns:a16="http://schemas.microsoft.com/office/drawing/2014/main" id="{DAA5FB40-15CB-F2AB-F713-3B6E5FFECA7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210" y="2344281"/>
            <a:ext cx="3087499" cy="3681801"/>
          </a:xfrm>
          <a:prstGeom prst="rect">
            <a:avLst/>
          </a:prstGeom>
        </p:spPr>
      </p:pic>
      <p:sp>
        <p:nvSpPr>
          <p:cNvPr id="33" name="Isosceles Triangle 32">
            <a:extLst>
              <a:ext uri="{FF2B5EF4-FFF2-40B4-BE49-F238E27FC236}">
                <a16:creationId xmlns:a16="http://schemas.microsoft.com/office/drawing/2014/main" id="{86C0458F-409B-4F5E-DD21-1669F989134C}"/>
              </a:ext>
            </a:extLst>
          </p:cNvPr>
          <p:cNvSpPr/>
          <p:nvPr/>
        </p:nvSpPr>
        <p:spPr>
          <a:xfrm rot="3183310">
            <a:off x="4511394" y="878010"/>
            <a:ext cx="678940" cy="698434"/>
          </a:xfrm>
          <a:prstGeom prst="triangle">
            <a:avLst>
              <a:gd name="adj" fmla="val 50089"/>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1000"/>
                                        <p:tgtEl>
                                          <p:spTgt spid="25"/>
                                        </p:tgtEl>
                                        <p:attrNameLst>
                                          <p:attrName>ppt_x</p:attrName>
                                        </p:attrNameLst>
                                      </p:cBhvr>
                                      <p:tavLst>
                                        <p:tav tm="0">
                                          <p:val>
                                            <p:strVal val="#ppt_x+#ppt_w*1.125000"/>
                                          </p:val>
                                        </p:tav>
                                        <p:tav tm="100000">
                                          <p:val>
                                            <p:strVal val="#ppt_x"/>
                                          </p:val>
                                        </p:tav>
                                      </p:tavLst>
                                    </p:anim>
                                    <p:animEffect transition="in" filter="wipe(left)">
                                      <p:cBhvr>
                                        <p:cTn id="8" dur="1000"/>
                                        <p:tgtEl>
                                          <p:spTgt spid="25"/>
                                        </p:tgtEl>
                                      </p:cBhvr>
                                    </p:animEffect>
                                  </p:childTnLst>
                                </p:cTn>
                              </p:par>
                              <p:par>
                                <p:cTn id="9" presetID="42"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1000"/>
                                        <p:tgtEl>
                                          <p:spTgt spid="33"/>
                                        </p:tgtEl>
                                      </p:cBhvr>
                                    </p:animEffect>
                                    <p:anim calcmode="lin" valueType="num">
                                      <p:cBhvr>
                                        <p:cTn id="12" dur="1000" fill="hold"/>
                                        <p:tgtEl>
                                          <p:spTgt spid="33"/>
                                        </p:tgtEl>
                                        <p:attrNameLst>
                                          <p:attrName>ppt_x</p:attrName>
                                        </p:attrNameLst>
                                      </p:cBhvr>
                                      <p:tavLst>
                                        <p:tav tm="0">
                                          <p:val>
                                            <p:strVal val="#ppt_x"/>
                                          </p:val>
                                        </p:tav>
                                        <p:tav tm="100000">
                                          <p:val>
                                            <p:strVal val="#ppt_x"/>
                                          </p:val>
                                        </p:tav>
                                      </p:tavLst>
                                    </p:anim>
                                    <p:anim calcmode="lin" valueType="num">
                                      <p:cBhvr>
                                        <p:cTn id="13" dur="1000" fill="hold"/>
                                        <p:tgtEl>
                                          <p:spTgt spid="33"/>
                                        </p:tgtEl>
                                        <p:attrNameLst>
                                          <p:attrName>ppt_y</p:attrName>
                                        </p:attrNameLst>
                                      </p:cBhvr>
                                      <p:tavLst>
                                        <p:tav tm="0">
                                          <p:val>
                                            <p:strVal val="#ppt_y+.1"/>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1000" fill="hold"/>
                                        <p:tgtEl>
                                          <p:spTgt spid="18"/>
                                        </p:tgtEl>
                                        <p:attrNameLst>
                                          <p:attrName>ppt_x</p:attrName>
                                        </p:attrNameLst>
                                      </p:cBhvr>
                                      <p:tavLst>
                                        <p:tav tm="0">
                                          <p:val>
                                            <p:strVal val="0-#ppt_w/2"/>
                                          </p:val>
                                        </p:tav>
                                        <p:tav tm="100000">
                                          <p:val>
                                            <p:strVal val="#ppt_x"/>
                                          </p:val>
                                        </p:tav>
                                      </p:tavLst>
                                    </p:anim>
                                    <p:anim calcmode="lin" valueType="num">
                                      <p:cBhvr additive="base">
                                        <p:cTn id="17" dur="1000" fill="hold"/>
                                        <p:tgtEl>
                                          <p:spTgt spid="18"/>
                                        </p:tgtEl>
                                        <p:attrNameLst>
                                          <p:attrName>ppt_y</p:attrName>
                                        </p:attrNameLst>
                                      </p:cBhvr>
                                      <p:tavLst>
                                        <p:tav tm="0">
                                          <p:val>
                                            <p:strVal val="#ppt_y"/>
                                          </p:val>
                                        </p:tav>
                                        <p:tav tm="100000">
                                          <p:val>
                                            <p:strVal val="#ppt_y"/>
                                          </p:val>
                                        </p:tav>
                                      </p:tavLst>
                                    </p:anim>
                                  </p:childTnLst>
                                </p:cTn>
                              </p:par>
                              <p:par>
                                <p:cTn id="18" presetID="2" presetClass="entr" presetSubtype="2" fill="hold" grpId="0" nodeType="withEffect">
                                  <p:stCondLst>
                                    <p:cond delay="75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1000" fill="hold"/>
                                        <p:tgtEl>
                                          <p:spTgt spid="19"/>
                                        </p:tgtEl>
                                        <p:attrNameLst>
                                          <p:attrName>ppt_x</p:attrName>
                                        </p:attrNameLst>
                                      </p:cBhvr>
                                      <p:tavLst>
                                        <p:tav tm="0">
                                          <p:val>
                                            <p:strVal val="1+#ppt_w/2"/>
                                          </p:val>
                                        </p:tav>
                                        <p:tav tm="100000">
                                          <p:val>
                                            <p:strVal val="#ppt_x"/>
                                          </p:val>
                                        </p:tav>
                                      </p:tavLst>
                                    </p:anim>
                                    <p:anim calcmode="lin" valueType="num">
                                      <p:cBhvr additive="base">
                                        <p:cTn id="21" dur="1000" fill="hold"/>
                                        <p:tgtEl>
                                          <p:spTgt spid="19"/>
                                        </p:tgtEl>
                                        <p:attrNameLst>
                                          <p:attrName>ppt_y</p:attrName>
                                        </p:attrNameLst>
                                      </p:cBhvr>
                                      <p:tavLst>
                                        <p:tav tm="0">
                                          <p:val>
                                            <p:strVal val="#ppt_y"/>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12" presetClass="entr" presetSubtype="2" fill="hold" nodeType="withEffect">
                                  <p:stCondLst>
                                    <p:cond delay="25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1000"/>
                                        <p:tgtEl>
                                          <p:spTgt spid="12"/>
                                        </p:tgtEl>
                                        <p:attrNameLst>
                                          <p:attrName>ppt_x</p:attrName>
                                        </p:attrNameLst>
                                      </p:cBhvr>
                                      <p:tavLst>
                                        <p:tav tm="0">
                                          <p:val>
                                            <p:strVal val="#ppt_x+#ppt_w*1.125000"/>
                                          </p:val>
                                        </p:tav>
                                        <p:tav tm="100000">
                                          <p:val>
                                            <p:strVal val="#ppt_x"/>
                                          </p:val>
                                        </p:tav>
                                      </p:tavLst>
                                    </p:anim>
                                    <p:animEffect transition="in" filter="wipe(left)">
                                      <p:cBhvr>
                                        <p:cTn id="30" dur="1000"/>
                                        <p:tgtEl>
                                          <p:spTgt spid="12"/>
                                        </p:tgtEl>
                                      </p:cBhvr>
                                    </p:animEffect>
                                  </p:childTnLst>
                                </p:cTn>
                              </p:par>
                              <p:par>
                                <p:cTn id="31" presetID="12" presetClass="entr" presetSubtype="2" fill="hold" nodeType="withEffect">
                                  <p:stCondLst>
                                    <p:cond delay="50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1000"/>
                                        <p:tgtEl>
                                          <p:spTgt spid="2"/>
                                        </p:tgtEl>
                                        <p:attrNameLst>
                                          <p:attrName>ppt_x</p:attrName>
                                        </p:attrNameLst>
                                      </p:cBhvr>
                                      <p:tavLst>
                                        <p:tav tm="0">
                                          <p:val>
                                            <p:strVal val="#ppt_x+#ppt_w*1.125000"/>
                                          </p:val>
                                        </p:tav>
                                        <p:tav tm="100000">
                                          <p:val>
                                            <p:strVal val="#ppt_x"/>
                                          </p:val>
                                        </p:tav>
                                      </p:tavLst>
                                    </p:anim>
                                    <p:animEffect transition="in" filter="wipe(left)">
                                      <p:cBhvr>
                                        <p:cTn id="34" dur="1000"/>
                                        <p:tgtEl>
                                          <p:spTgt spid="2"/>
                                        </p:tgtEl>
                                      </p:cBhvr>
                                    </p:animEffect>
                                  </p:childTnLst>
                                </p:cTn>
                              </p:par>
                              <p:par>
                                <p:cTn id="35" presetID="12" presetClass="entr" presetSubtype="4" fill="hold" nodeType="withEffect">
                                  <p:stCondLst>
                                    <p:cond delay="75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000"/>
                                        <p:tgtEl>
                                          <p:spTgt spid="8"/>
                                        </p:tgtEl>
                                        <p:attrNameLst>
                                          <p:attrName>ppt_y</p:attrName>
                                        </p:attrNameLst>
                                      </p:cBhvr>
                                      <p:tavLst>
                                        <p:tav tm="0">
                                          <p:val>
                                            <p:strVal val="#ppt_y+#ppt_h*1.125000"/>
                                          </p:val>
                                        </p:tav>
                                        <p:tav tm="100000">
                                          <p:val>
                                            <p:strVal val="#ppt_y"/>
                                          </p:val>
                                        </p:tav>
                                      </p:tavLst>
                                    </p:anim>
                                    <p:animEffect transition="in" filter="wipe(up)">
                                      <p:cBhvr>
                                        <p:cTn id="38" dur="1000"/>
                                        <p:tgtEl>
                                          <p:spTgt spid="8"/>
                                        </p:tgtEl>
                                      </p:cBhvr>
                                    </p:animEffect>
                                  </p:childTnLst>
                                </p:cTn>
                              </p:par>
                              <p:par>
                                <p:cTn id="39" presetID="2" presetClass="entr" presetSubtype="12" fill="hold" nodeType="withEffect">
                                  <p:stCondLst>
                                    <p:cond delay="750"/>
                                  </p:stCondLst>
                                  <p:childTnLst>
                                    <p:set>
                                      <p:cBhvr>
                                        <p:cTn id="40" dur="1" fill="hold">
                                          <p:stCondLst>
                                            <p:cond delay="0"/>
                                          </p:stCondLst>
                                        </p:cTn>
                                        <p:tgtEl>
                                          <p:spTgt spid="28"/>
                                        </p:tgtEl>
                                        <p:attrNameLst>
                                          <p:attrName>style.visibility</p:attrName>
                                        </p:attrNameLst>
                                      </p:cBhvr>
                                      <p:to>
                                        <p:strVal val="visible"/>
                                      </p:to>
                                    </p:set>
                                    <p:anim calcmode="lin" valueType="num">
                                      <p:cBhvr additive="base">
                                        <p:cTn id="41" dur="500" fill="hold"/>
                                        <p:tgtEl>
                                          <p:spTgt spid="28"/>
                                        </p:tgtEl>
                                        <p:attrNameLst>
                                          <p:attrName>ppt_x</p:attrName>
                                        </p:attrNameLst>
                                      </p:cBhvr>
                                      <p:tavLst>
                                        <p:tav tm="0">
                                          <p:val>
                                            <p:strVal val="0-#ppt_w/2"/>
                                          </p:val>
                                        </p:tav>
                                        <p:tav tm="100000">
                                          <p:val>
                                            <p:strVal val="#ppt_x"/>
                                          </p:val>
                                        </p:tav>
                                      </p:tavLst>
                                    </p:anim>
                                    <p:anim calcmode="lin" valueType="num">
                                      <p:cBhvr additive="base">
                                        <p:cTn id="42" dur="500" fill="hold"/>
                                        <p:tgtEl>
                                          <p:spTgt spid="28"/>
                                        </p:tgtEl>
                                        <p:attrNameLst>
                                          <p:attrName>ppt_y</p:attrName>
                                        </p:attrNameLst>
                                      </p:cBhvr>
                                      <p:tavLst>
                                        <p:tav tm="0">
                                          <p:val>
                                            <p:strVal val="1+#ppt_h/2"/>
                                          </p:val>
                                        </p:tav>
                                        <p:tav tm="100000">
                                          <p:val>
                                            <p:strVal val="#ppt_y"/>
                                          </p:val>
                                        </p:tav>
                                      </p:tavLst>
                                    </p:anim>
                                  </p:childTnLst>
                                </p:cTn>
                              </p:par>
                              <p:par>
                                <p:cTn id="43" presetID="12" presetClass="entr" presetSubtype="1" fill="hold" nodeType="with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additive="base">
                                        <p:cTn id="45" dur="1000"/>
                                        <p:tgtEl>
                                          <p:spTgt spid="5"/>
                                        </p:tgtEl>
                                        <p:attrNameLst>
                                          <p:attrName>ppt_y</p:attrName>
                                        </p:attrNameLst>
                                      </p:cBhvr>
                                      <p:tavLst>
                                        <p:tav tm="0">
                                          <p:val>
                                            <p:strVal val="#ppt_y-#ppt_h*1.125000"/>
                                          </p:val>
                                        </p:tav>
                                        <p:tav tm="100000">
                                          <p:val>
                                            <p:strVal val="#ppt_y"/>
                                          </p:val>
                                        </p:tav>
                                      </p:tavLst>
                                    </p:anim>
                                    <p:animEffect transition="in" filter="wipe(down)">
                                      <p:cBhvr>
                                        <p:cTn id="46" dur="1000"/>
                                        <p:tgtEl>
                                          <p:spTgt spid="5"/>
                                        </p:tgtEl>
                                      </p:cBhvr>
                                    </p:animEffect>
                                  </p:childTnLst>
                                </p:cTn>
                              </p:par>
                              <p:par>
                                <p:cTn id="47" presetID="26" presetClass="entr" presetSubtype="0" fill="hold" nodeType="withEffect">
                                  <p:stCondLst>
                                    <p:cond delay="1000"/>
                                  </p:stCondLst>
                                  <p:childTnLst>
                                    <p:set>
                                      <p:cBhvr>
                                        <p:cTn id="48" dur="1" fill="hold">
                                          <p:stCondLst>
                                            <p:cond delay="0"/>
                                          </p:stCondLst>
                                        </p:cTn>
                                        <p:tgtEl>
                                          <p:spTgt spid="32"/>
                                        </p:tgtEl>
                                        <p:attrNameLst>
                                          <p:attrName>style.visibility</p:attrName>
                                        </p:attrNameLst>
                                      </p:cBhvr>
                                      <p:to>
                                        <p:strVal val="visible"/>
                                      </p:to>
                                    </p:set>
                                    <p:animEffect transition="in" filter="wipe(down)">
                                      <p:cBhvr>
                                        <p:cTn id="49" dur="362">
                                          <p:stCondLst>
                                            <p:cond delay="0"/>
                                          </p:stCondLst>
                                        </p:cTn>
                                        <p:tgtEl>
                                          <p:spTgt spid="32"/>
                                        </p:tgtEl>
                                      </p:cBhvr>
                                    </p:animEffect>
                                    <p:anim calcmode="lin" valueType="num">
                                      <p:cBhvr>
                                        <p:cTn id="50" dur="1139"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51" dur="415"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52" dur="415" tmFilter="0, 0; 0.125,0.2665; 0.25,0.4; 0.375,0.465; 0.5,0.5;  0.625,0.535; 0.75,0.6; 0.875,0.7335; 1,1">
                                          <p:stCondLst>
                                            <p:cond delay="415"/>
                                          </p:stCondLst>
                                        </p:cTn>
                                        <p:tgtEl>
                                          <p:spTgt spid="32"/>
                                        </p:tgtEl>
                                        <p:attrNameLst>
                                          <p:attrName>ppt_y</p:attrName>
                                        </p:attrNameLst>
                                      </p:cBhvr>
                                      <p:tavLst>
                                        <p:tav tm="0" fmla="#ppt_y-sin(pi*$)/9">
                                          <p:val>
                                            <p:fltVal val="0"/>
                                          </p:val>
                                        </p:tav>
                                        <p:tav tm="100000">
                                          <p:val>
                                            <p:fltVal val="1"/>
                                          </p:val>
                                        </p:tav>
                                      </p:tavLst>
                                    </p:anim>
                                    <p:anim calcmode="lin" valueType="num">
                                      <p:cBhvr>
                                        <p:cTn id="53" dur="207" tmFilter="0, 0; 0.125,0.2665; 0.25,0.4; 0.375,0.465; 0.5,0.5;  0.625,0.535; 0.75,0.6; 0.875,0.7335; 1,1">
                                          <p:stCondLst>
                                            <p:cond delay="828"/>
                                          </p:stCondLst>
                                        </p:cTn>
                                        <p:tgtEl>
                                          <p:spTgt spid="32"/>
                                        </p:tgtEl>
                                        <p:attrNameLst>
                                          <p:attrName>ppt_y</p:attrName>
                                        </p:attrNameLst>
                                      </p:cBhvr>
                                      <p:tavLst>
                                        <p:tav tm="0" fmla="#ppt_y-sin(pi*$)/27">
                                          <p:val>
                                            <p:fltVal val="0"/>
                                          </p:val>
                                        </p:tav>
                                        <p:tav tm="100000">
                                          <p:val>
                                            <p:fltVal val="1"/>
                                          </p:val>
                                        </p:tav>
                                      </p:tavLst>
                                    </p:anim>
                                    <p:anim calcmode="lin" valueType="num">
                                      <p:cBhvr>
                                        <p:cTn id="54" dur="103" tmFilter="0, 0; 0.125,0.2665; 0.25,0.4; 0.375,0.465; 0.5,0.5;  0.625,0.535; 0.75,0.6; 0.875,0.7335; 1,1">
                                          <p:stCondLst>
                                            <p:cond delay="1035"/>
                                          </p:stCondLst>
                                        </p:cTn>
                                        <p:tgtEl>
                                          <p:spTgt spid="32"/>
                                        </p:tgtEl>
                                        <p:attrNameLst>
                                          <p:attrName>ppt_y</p:attrName>
                                        </p:attrNameLst>
                                      </p:cBhvr>
                                      <p:tavLst>
                                        <p:tav tm="0" fmla="#ppt_y-sin(pi*$)/81">
                                          <p:val>
                                            <p:fltVal val="0"/>
                                          </p:val>
                                        </p:tav>
                                        <p:tav tm="100000">
                                          <p:val>
                                            <p:fltVal val="1"/>
                                          </p:val>
                                        </p:tav>
                                      </p:tavLst>
                                    </p:anim>
                                    <p:animScale>
                                      <p:cBhvr>
                                        <p:cTn id="55" dur="16">
                                          <p:stCondLst>
                                            <p:cond delay="406"/>
                                          </p:stCondLst>
                                        </p:cTn>
                                        <p:tgtEl>
                                          <p:spTgt spid="32"/>
                                        </p:tgtEl>
                                      </p:cBhvr>
                                      <p:to x="100000" y="60000"/>
                                    </p:animScale>
                                    <p:animScale>
                                      <p:cBhvr>
                                        <p:cTn id="56" dur="104" decel="50000">
                                          <p:stCondLst>
                                            <p:cond delay="423"/>
                                          </p:stCondLst>
                                        </p:cTn>
                                        <p:tgtEl>
                                          <p:spTgt spid="32"/>
                                        </p:tgtEl>
                                      </p:cBhvr>
                                      <p:to x="100000" y="100000"/>
                                    </p:animScale>
                                    <p:animScale>
                                      <p:cBhvr>
                                        <p:cTn id="57" dur="16">
                                          <p:stCondLst>
                                            <p:cond delay="820"/>
                                          </p:stCondLst>
                                        </p:cTn>
                                        <p:tgtEl>
                                          <p:spTgt spid="32"/>
                                        </p:tgtEl>
                                      </p:cBhvr>
                                      <p:to x="100000" y="80000"/>
                                    </p:animScale>
                                    <p:animScale>
                                      <p:cBhvr>
                                        <p:cTn id="58" dur="104" decel="50000">
                                          <p:stCondLst>
                                            <p:cond delay="836"/>
                                          </p:stCondLst>
                                        </p:cTn>
                                        <p:tgtEl>
                                          <p:spTgt spid="32"/>
                                        </p:tgtEl>
                                      </p:cBhvr>
                                      <p:to x="100000" y="100000"/>
                                    </p:animScale>
                                    <p:animScale>
                                      <p:cBhvr>
                                        <p:cTn id="59" dur="16">
                                          <p:stCondLst>
                                            <p:cond delay="1026"/>
                                          </p:stCondLst>
                                        </p:cTn>
                                        <p:tgtEl>
                                          <p:spTgt spid="32"/>
                                        </p:tgtEl>
                                      </p:cBhvr>
                                      <p:to x="100000" y="90000"/>
                                    </p:animScale>
                                    <p:animScale>
                                      <p:cBhvr>
                                        <p:cTn id="60" dur="104" decel="50000">
                                          <p:stCondLst>
                                            <p:cond delay="1042"/>
                                          </p:stCondLst>
                                        </p:cTn>
                                        <p:tgtEl>
                                          <p:spTgt spid="32"/>
                                        </p:tgtEl>
                                      </p:cBhvr>
                                      <p:to x="100000" y="100000"/>
                                    </p:animScale>
                                    <p:animScale>
                                      <p:cBhvr>
                                        <p:cTn id="61" dur="16">
                                          <p:stCondLst>
                                            <p:cond delay="1130"/>
                                          </p:stCondLst>
                                        </p:cTn>
                                        <p:tgtEl>
                                          <p:spTgt spid="32"/>
                                        </p:tgtEl>
                                      </p:cBhvr>
                                      <p:to x="100000" y="95000"/>
                                    </p:animScale>
                                    <p:animScale>
                                      <p:cBhvr>
                                        <p:cTn id="62" dur="104" decel="50000">
                                          <p:stCondLst>
                                            <p:cond delay="1146"/>
                                          </p:stCondLst>
                                        </p:cTn>
                                        <p:tgtEl>
                                          <p:spTgt spid="32"/>
                                        </p:tgtEl>
                                      </p:cBhvr>
                                      <p:to x="100000" y="100000"/>
                                    </p:animScale>
                                  </p:childTnLst>
                                </p:cTn>
                              </p:par>
                              <p:par>
                                <p:cTn id="63" presetID="16" presetClass="entr" presetSubtype="21" fill="hold" nodeType="withEffect">
                                  <p:stCondLst>
                                    <p:cond delay="1000"/>
                                  </p:stCondLst>
                                  <p:childTnLst>
                                    <p:set>
                                      <p:cBhvr>
                                        <p:cTn id="64" dur="1" fill="hold">
                                          <p:stCondLst>
                                            <p:cond delay="0"/>
                                          </p:stCondLst>
                                        </p:cTn>
                                        <p:tgtEl>
                                          <p:spTgt spid="32"/>
                                        </p:tgtEl>
                                        <p:attrNameLst>
                                          <p:attrName>style.visibility</p:attrName>
                                        </p:attrNameLst>
                                      </p:cBhvr>
                                      <p:to>
                                        <p:strVal val="visible"/>
                                      </p:to>
                                    </p:set>
                                    <p:animEffect transition="in" filter="barn(inVertical)">
                                      <p:cBhvr>
                                        <p:cTn id="65" dur="500"/>
                                        <p:tgtEl>
                                          <p:spTgt spid="32"/>
                                        </p:tgtEl>
                                      </p:cBhvr>
                                    </p:animEffect>
                                  </p:childTnLst>
                                </p:cTn>
                              </p:par>
                              <p:par>
                                <p:cTn id="66" presetID="8" presetClass="emph" presetSubtype="0" fill="hold" grpId="0" nodeType="withEffect">
                                  <p:stCondLst>
                                    <p:cond delay="0"/>
                                  </p:stCondLst>
                                  <p:childTnLst>
                                    <p:animRot by="10800000">
                                      <p:cBhvr>
                                        <p:cTn id="67" dur="1000" fill="hold"/>
                                        <p:tgtEl>
                                          <p:spTgt spid="11"/>
                                        </p:tgtEl>
                                        <p:attrNameLst>
                                          <p:attrName>r</p:attrName>
                                        </p:attrNameLst>
                                      </p:cBhvr>
                                    </p:animRot>
                                  </p:childTnLst>
                                </p:cTn>
                              </p:par>
                              <p:par>
                                <p:cTn id="68" presetID="22" presetClass="entr" presetSubtype="4" fill="hold" grpId="1" nodeType="with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down)">
                                      <p:cBhvr>
                                        <p:cTn id="70" dur="1000"/>
                                        <p:tgtEl>
                                          <p:spTgt spid="11"/>
                                        </p:tgtEl>
                                      </p:cBhvr>
                                    </p:animEffect>
                                  </p:childTnLst>
                                </p:cTn>
                              </p:par>
                            </p:childTnLst>
                          </p:cTn>
                        </p:par>
                        <p:par>
                          <p:cTn id="71" fill="hold">
                            <p:stCondLst>
                              <p:cond delay="2250"/>
                            </p:stCondLst>
                            <p:childTnLst>
                              <p:par>
                                <p:cTn id="72" presetID="32" presetClass="emph" presetSubtype="0" fill="hold" nodeType="afterEffect">
                                  <p:stCondLst>
                                    <p:cond delay="1000"/>
                                  </p:stCondLst>
                                  <p:childTnLst>
                                    <p:animRot by="120000">
                                      <p:cBhvr>
                                        <p:cTn id="73" dur="100" fill="hold">
                                          <p:stCondLst>
                                            <p:cond delay="0"/>
                                          </p:stCondLst>
                                        </p:cTn>
                                        <p:tgtEl>
                                          <p:spTgt spid="32"/>
                                        </p:tgtEl>
                                        <p:attrNameLst>
                                          <p:attrName>r</p:attrName>
                                        </p:attrNameLst>
                                      </p:cBhvr>
                                    </p:animRot>
                                    <p:animRot by="-240000">
                                      <p:cBhvr>
                                        <p:cTn id="74" dur="200" fill="hold">
                                          <p:stCondLst>
                                            <p:cond delay="200"/>
                                          </p:stCondLst>
                                        </p:cTn>
                                        <p:tgtEl>
                                          <p:spTgt spid="32"/>
                                        </p:tgtEl>
                                        <p:attrNameLst>
                                          <p:attrName>r</p:attrName>
                                        </p:attrNameLst>
                                      </p:cBhvr>
                                    </p:animRot>
                                    <p:animRot by="240000">
                                      <p:cBhvr>
                                        <p:cTn id="75" dur="200" fill="hold">
                                          <p:stCondLst>
                                            <p:cond delay="400"/>
                                          </p:stCondLst>
                                        </p:cTn>
                                        <p:tgtEl>
                                          <p:spTgt spid="32"/>
                                        </p:tgtEl>
                                        <p:attrNameLst>
                                          <p:attrName>r</p:attrName>
                                        </p:attrNameLst>
                                      </p:cBhvr>
                                    </p:animRot>
                                    <p:animRot by="-240000">
                                      <p:cBhvr>
                                        <p:cTn id="76" dur="200" fill="hold">
                                          <p:stCondLst>
                                            <p:cond delay="600"/>
                                          </p:stCondLst>
                                        </p:cTn>
                                        <p:tgtEl>
                                          <p:spTgt spid="32"/>
                                        </p:tgtEl>
                                        <p:attrNameLst>
                                          <p:attrName>r</p:attrName>
                                        </p:attrNameLst>
                                      </p:cBhvr>
                                    </p:animRot>
                                    <p:animRot by="120000">
                                      <p:cBhvr>
                                        <p:cTn id="77" dur="200" fill="hold">
                                          <p:stCondLst>
                                            <p:cond delay="800"/>
                                          </p:stCondLst>
                                        </p:cTn>
                                        <p:tgtEl>
                                          <p:spTgt spid="3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8" grpId="0"/>
      <p:bldP spid="19" grpId="0"/>
      <p:bldP spid="3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503507">
            <a:off x="-7775221" y="1048968"/>
            <a:ext cx="12583451" cy="7382737"/>
            <a:chOff x="0" y="0"/>
            <a:chExt cx="3314160" cy="1944424"/>
          </a:xfrm>
        </p:grpSpPr>
        <p:sp>
          <p:nvSpPr>
            <p:cNvPr id="3" name="Freeform 3"/>
            <p:cNvSpPr/>
            <p:nvPr/>
          </p:nvSpPr>
          <p:spPr>
            <a:xfrm>
              <a:off x="0" y="0"/>
              <a:ext cx="3314160" cy="1944425"/>
            </a:xfrm>
            <a:custGeom>
              <a:avLst/>
              <a:gdLst/>
              <a:ahLst/>
              <a:cxnLst/>
              <a:rect l="l" t="t" r="r" b="b"/>
              <a:pathLst>
                <a:path w="3314160" h="1944425">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txBody>
            <a:bodyPr/>
            <a:lstStyle/>
            <a:p>
              <a:endParaRPr lang="en-US"/>
            </a:p>
          </p:txBody>
        </p:sp>
        <p:sp>
          <p:nvSpPr>
            <p:cNvPr id="4" name="TextBox 4"/>
            <p:cNvSpPr txBox="1"/>
            <p:nvPr/>
          </p:nvSpPr>
          <p:spPr>
            <a:xfrm>
              <a:off x="0" y="-333375"/>
              <a:ext cx="3314160" cy="2277799"/>
            </a:xfrm>
            <a:prstGeom prst="rect">
              <a:avLst/>
            </a:prstGeom>
          </p:spPr>
          <p:txBody>
            <a:bodyPr lIns="50800" tIns="50800" rIns="50800" bIns="50800" rtlCol="0" anchor="ctr"/>
            <a:lstStyle/>
            <a:p>
              <a:pPr algn="ctr">
                <a:lnSpc>
                  <a:spcPts val="6249"/>
                </a:lnSpc>
              </a:pPr>
              <a:endParaRPr/>
            </a:p>
          </p:txBody>
        </p:sp>
      </p:grpSp>
      <p:grpSp>
        <p:nvGrpSpPr>
          <p:cNvPr id="6" name="Group 6"/>
          <p:cNvGrpSpPr/>
          <p:nvPr/>
        </p:nvGrpSpPr>
        <p:grpSpPr>
          <a:xfrm>
            <a:off x="9499113" y="1308543"/>
            <a:ext cx="2675262" cy="2810990"/>
            <a:chOff x="0" y="0"/>
            <a:chExt cx="773554" cy="812800"/>
          </a:xfrm>
        </p:grpSpPr>
        <p:sp>
          <p:nvSpPr>
            <p:cNvPr id="7" name="Freeform 7"/>
            <p:cNvSpPr/>
            <p:nvPr/>
          </p:nvSpPr>
          <p:spPr>
            <a:xfrm>
              <a:off x="0" y="0"/>
              <a:ext cx="773554" cy="812800"/>
            </a:xfrm>
            <a:custGeom>
              <a:avLst/>
              <a:gdLst/>
              <a:ahLst/>
              <a:cxnLst/>
              <a:rect l="l" t="t" r="r" b="b"/>
              <a:pathLst>
                <a:path w="773554" h="812800">
                  <a:moveTo>
                    <a:pt x="0" y="0"/>
                  </a:moveTo>
                  <a:lnTo>
                    <a:pt x="773554" y="0"/>
                  </a:lnTo>
                  <a:lnTo>
                    <a:pt x="773554" y="812800"/>
                  </a:lnTo>
                  <a:lnTo>
                    <a:pt x="0" y="812800"/>
                  </a:lnTo>
                  <a:close/>
                </a:path>
              </a:pathLst>
            </a:custGeom>
            <a:solidFill>
              <a:srgbClr val="C27F7F"/>
            </a:solidFill>
          </p:spPr>
          <p:txBody>
            <a:bodyPr/>
            <a:lstStyle/>
            <a:p>
              <a:endParaRPr lang="en-US"/>
            </a:p>
          </p:txBody>
        </p:sp>
        <p:sp>
          <p:nvSpPr>
            <p:cNvPr id="8" name="TextBox 8"/>
            <p:cNvSpPr txBox="1"/>
            <p:nvPr/>
          </p:nvSpPr>
          <p:spPr>
            <a:xfrm>
              <a:off x="0" y="-333375"/>
              <a:ext cx="773554" cy="1146175"/>
            </a:xfrm>
            <a:prstGeom prst="rect">
              <a:avLst/>
            </a:prstGeom>
          </p:spPr>
          <p:txBody>
            <a:bodyPr lIns="50800" tIns="50800" rIns="50800" bIns="50800" rtlCol="0" anchor="ctr"/>
            <a:lstStyle/>
            <a:p>
              <a:pPr algn="ctr">
                <a:lnSpc>
                  <a:spcPts val="6249"/>
                </a:lnSpc>
              </a:pPr>
              <a:endParaRPr/>
            </a:p>
          </p:txBody>
        </p:sp>
      </p:grpSp>
      <p:grpSp>
        <p:nvGrpSpPr>
          <p:cNvPr id="11" name="Group 11"/>
          <p:cNvGrpSpPr/>
          <p:nvPr/>
        </p:nvGrpSpPr>
        <p:grpSpPr>
          <a:xfrm>
            <a:off x="-1753856" y="9614819"/>
            <a:ext cx="5565113" cy="672181"/>
            <a:chOff x="0" y="0"/>
            <a:chExt cx="1465709" cy="177035"/>
          </a:xfrm>
        </p:grpSpPr>
        <p:sp>
          <p:nvSpPr>
            <p:cNvPr id="12" name="Freeform 12"/>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txBody>
            <a:bodyPr/>
            <a:lstStyle/>
            <a:p>
              <a:endParaRPr lang="en-US"/>
            </a:p>
          </p:txBody>
        </p:sp>
        <p:sp>
          <p:nvSpPr>
            <p:cNvPr id="13" name="TextBox 13"/>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14" name="Group 14"/>
          <p:cNvGrpSpPr/>
          <p:nvPr/>
        </p:nvGrpSpPr>
        <p:grpSpPr>
          <a:xfrm>
            <a:off x="14476744" y="0"/>
            <a:ext cx="5565113" cy="672181"/>
            <a:chOff x="0" y="0"/>
            <a:chExt cx="1465709" cy="177035"/>
          </a:xfrm>
        </p:grpSpPr>
        <p:sp>
          <p:nvSpPr>
            <p:cNvPr id="15" name="Freeform 15"/>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txBody>
            <a:bodyPr/>
            <a:lstStyle/>
            <a:p>
              <a:endParaRPr lang="en-US"/>
            </a:p>
          </p:txBody>
        </p:sp>
        <p:sp>
          <p:nvSpPr>
            <p:cNvPr id="16" name="TextBox 16"/>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17" name="Group 17"/>
          <p:cNvGrpSpPr/>
          <p:nvPr/>
        </p:nvGrpSpPr>
        <p:grpSpPr>
          <a:xfrm>
            <a:off x="13806741" y="1308543"/>
            <a:ext cx="2675262" cy="2810990"/>
            <a:chOff x="0" y="0"/>
            <a:chExt cx="773554" cy="812800"/>
          </a:xfrm>
        </p:grpSpPr>
        <p:sp>
          <p:nvSpPr>
            <p:cNvPr id="18" name="Freeform 18"/>
            <p:cNvSpPr/>
            <p:nvPr/>
          </p:nvSpPr>
          <p:spPr>
            <a:xfrm>
              <a:off x="0" y="0"/>
              <a:ext cx="773554" cy="812800"/>
            </a:xfrm>
            <a:custGeom>
              <a:avLst/>
              <a:gdLst/>
              <a:ahLst/>
              <a:cxnLst/>
              <a:rect l="l" t="t" r="r" b="b"/>
              <a:pathLst>
                <a:path w="773554" h="812800">
                  <a:moveTo>
                    <a:pt x="0" y="0"/>
                  </a:moveTo>
                  <a:lnTo>
                    <a:pt x="773554" y="0"/>
                  </a:lnTo>
                  <a:lnTo>
                    <a:pt x="773554" y="812800"/>
                  </a:lnTo>
                  <a:lnTo>
                    <a:pt x="0" y="812800"/>
                  </a:lnTo>
                  <a:close/>
                </a:path>
              </a:pathLst>
            </a:custGeom>
            <a:solidFill>
              <a:srgbClr val="C27F7F"/>
            </a:solidFill>
          </p:spPr>
          <p:txBody>
            <a:bodyPr/>
            <a:lstStyle/>
            <a:p>
              <a:endParaRPr lang="en-US"/>
            </a:p>
          </p:txBody>
        </p:sp>
        <p:sp>
          <p:nvSpPr>
            <p:cNvPr id="19" name="TextBox 19"/>
            <p:cNvSpPr txBox="1"/>
            <p:nvPr/>
          </p:nvSpPr>
          <p:spPr>
            <a:xfrm>
              <a:off x="0" y="-333375"/>
              <a:ext cx="773554" cy="1146175"/>
            </a:xfrm>
            <a:prstGeom prst="rect">
              <a:avLst/>
            </a:prstGeom>
          </p:spPr>
          <p:txBody>
            <a:bodyPr lIns="50800" tIns="50800" rIns="50800" bIns="50800" rtlCol="0" anchor="ctr"/>
            <a:lstStyle/>
            <a:p>
              <a:pPr algn="ctr">
                <a:lnSpc>
                  <a:spcPts val="6249"/>
                </a:lnSpc>
              </a:pPr>
              <a:endParaRPr/>
            </a:p>
          </p:txBody>
        </p:sp>
      </p:grpSp>
      <p:grpSp>
        <p:nvGrpSpPr>
          <p:cNvPr id="22" name="Group 22"/>
          <p:cNvGrpSpPr/>
          <p:nvPr/>
        </p:nvGrpSpPr>
        <p:grpSpPr>
          <a:xfrm>
            <a:off x="13772406" y="5144032"/>
            <a:ext cx="2675262" cy="2810990"/>
            <a:chOff x="0" y="0"/>
            <a:chExt cx="773554" cy="812800"/>
          </a:xfrm>
        </p:grpSpPr>
        <p:sp>
          <p:nvSpPr>
            <p:cNvPr id="23" name="Freeform 23"/>
            <p:cNvSpPr/>
            <p:nvPr/>
          </p:nvSpPr>
          <p:spPr>
            <a:xfrm>
              <a:off x="0" y="0"/>
              <a:ext cx="773554" cy="812800"/>
            </a:xfrm>
            <a:custGeom>
              <a:avLst/>
              <a:gdLst/>
              <a:ahLst/>
              <a:cxnLst/>
              <a:rect l="l" t="t" r="r" b="b"/>
              <a:pathLst>
                <a:path w="773554" h="812800">
                  <a:moveTo>
                    <a:pt x="0" y="0"/>
                  </a:moveTo>
                  <a:lnTo>
                    <a:pt x="773554" y="0"/>
                  </a:lnTo>
                  <a:lnTo>
                    <a:pt x="773554" y="812800"/>
                  </a:lnTo>
                  <a:lnTo>
                    <a:pt x="0" y="812800"/>
                  </a:lnTo>
                  <a:close/>
                </a:path>
              </a:pathLst>
            </a:custGeom>
            <a:solidFill>
              <a:srgbClr val="C27F7F"/>
            </a:solidFill>
          </p:spPr>
          <p:txBody>
            <a:bodyPr/>
            <a:lstStyle/>
            <a:p>
              <a:endParaRPr lang="en-US"/>
            </a:p>
          </p:txBody>
        </p:sp>
        <p:sp>
          <p:nvSpPr>
            <p:cNvPr id="24" name="TextBox 24"/>
            <p:cNvSpPr txBox="1"/>
            <p:nvPr/>
          </p:nvSpPr>
          <p:spPr>
            <a:xfrm>
              <a:off x="0" y="-333375"/>
              <a:ext cx="773554" cy="1146175"/>
            </a:xfrm>
            <a:prstGeom prst="rect">
              <a:avLst/>
            </a:prstGeom>
          </p:spPr>
          <p:txBody>
            <a:bodyPr lIns="50800" tIns="50800" rIns="50800" bIns="50800" rtlCol="0" anchor="ctr"/>
            <a:lstStyle/>
            <a:p>
              <a:pPr algn="ctr">
                <a:lnSpc>
                  <a:spcPts val="6249"/>
                </a:lnSpc>
              </a:pPr>
              <a:endParaRPr/>
            </a:p>
          </p:txBody>
        </p:sp>
      </p:grpSp>
      <p:grpSp>
        <p:nvGrpSpPr>
          <p:cNvPr id="27" name="Group 27"/>
          <p:cNvGrpSpPr/>
          <p:nvPr/>
        </p:nvGrpSpPr>
        <p:grpSpPr>
          <a:xfrm>
            <a:off x="9586714" y="5005868"/>
            <a:ext cx="2675262" cy="2810990"/>
            <a:chOff x="0" y="0"/>
            <a:chExt cx="773554" cy="812800"/>
          </a:xfrm>
        </p:grpSpPr>
        <p:sp>
          <p:nvSpPr>
            <p:cNvPr id="28" name="Freeform 28"/>
            <p:cNvSpPr/>
            <p:nvPr/>
          </p:nvSpPr>
          <p:spPr>
            <a:xfrm>
              <a:off x="0" y="0"/>
              <a:ext cx="773554" cy="812800"/>
            </a:xfrm>
            <a:custGeom>
              <a:avLst/>
              <a:gdLst/>
              <a:ahLst/>
              <a:cxnLst/>
              <a:rect l="l" t="t" r="r" b="b"/>
              <a:pathLst>
                <a:path w="773554" h="812800">
                  <a:moveTo>
                    <a:pt x="0" y="0"/>
                  </a:moveTo>
                  <a:lnTo>
                    <a:pt x="773554" y="0"/>
                  </a:lnTo>
                  <a:lnTo>
                    <a:pt x="773554" y="812800"/>
                  </a:lnTo>
                  <a:lnTo>
                    <a:pt x="0" y="812800"/>
                  </a:lnTo>
                  <a:close/>
                </a:path>
              </a:pathLst>
            </a:custGeom>
            <a:solidFill>
              <a:srgbClr val="C27F7F"/>
            </a:solidFill>
          </p:spPr>
          <p:txBody>
            <a:bodyPr/>
            <a:lstStyle/>
            <a:p>
              <a:endParaRPr lang="en-US"/>
            </a:p>
          </p:txBody>
        </p:sp>
        <p:sp>
          <p:nvSpPr>
            <p:cNvPr id="29" name="TextBox 29"/>
            <p:cNvSpPr txBox="1"/>
            <p:nvPr/>
          </p:nvSpPr>
          <p:spPr>
            <a:xfrm>
              <a:off x="0" y="-333375"/>
              <a:ext cx="773554" cy="1146175"/>
            </a:xfrm>
            <a:prstGeom prst="rect">
              <a:avLst/>
            </a:prstGeom>
          </p:spPr>
          <p:txBody>
            <a:bodyPr lIns="50800" tIns="50800" rIns="50800" bIns="50800" rtlCol="0" anchor="ctr"/>
            <a:lstStyle/>
            <a:p>
              <a:pPr algn="ctr">
                <a:lnSpc>
                  <a:spcPts val="6249"/>
                </a:lnSpc>
              </a:pPr>
              <a:endParaRPr/>
            </a:p>
          </p:txBody>
        </p:sp>
      </p:grpSp>
      <p:sp>
        <p:nvSpPr>
          <p:cNvPr id="32" name="TextBox 32"/>
          <p:cNvSpPr txBox="1"/>
          <p:nvPr/>
        </p:nvSpPr>
        <p:spPr>
          <a:xfrm>
            <a:off x="1730365" y="1480822"/>
            <a:ext cx="3423051" cy="1153521"/>
          </a:xfrm>
          <a:prstGeom prst="rect">
            <a:avLst/>
          </a:prstGeom>
        </p:spPr>
        <p:txBody>
          <a:bodyPr lIns="0" tIns="0" rIns="0" bIns="0" rtlCol="0" anchor="t">
            <a:spAutoFit/>
          </a:bodyPr>
          <a:lstStyle/>
          <a:p>
            <a:pPr algn="l">
              <a:lnSpc>
                <a:spcPts val="7700"/>
              </a:lnSpc>
            </a:pPr>
            <a:r>
              <a:rPr lang="en-US" sz="11500" b="1" dirty="0">
                <a:solidFill>
                  <a:srgbClr val="000000"/>
                </a:solidFill>
                <a:latin typeface="Poppins Bold"/>
                <a:ea typeface="Poppins Bold"/>
                <a:cs typeface="Poppins Bold"/>
                <a:sym typeface="Poppins Bold"/>
              </a:rPr>
              <a:t>Our </a:t>
            </a:r>
          </a:p>
        </p:txBody>
      </p:sp>
      <p:sp>
        <p:nvSpPr>
          <p:cNvPr id="33" name="TextBox 33"/>
          <p:cNvSpPr txBox="1"/>
          <p:nvPr/>
        </p:nvSpPr>
        <p:spPr>
          <a:xfrm>
            <a:off x="1840332" y="2419405"/>
            <a:ext cx="1295782" cy="6554871"/>
          </a:xfrm>
          <a:prstGeom prst="rect">
            <a:avLst/>
          </a:prstGeom>
        </p:spPr>
        <p:txBody>
          <a:bodyPr wrap="square" lIns="0" tIns="0" rIns="0" bIns="0" rtlCol="0" anchor="t">
            <a:spAutoFit/>
          </a:bodyPr>
          <a:lstStyle/>
          <a:p>
            <a:pPr algn="l">
              <a:lnSpc>
                <a:spcPts val="12599"/>
              </a:lnSpc>
            </a:pPr>
            <a:r>
              <a:rPr lang="en-US" sz="11500" b="1" spc="845" dirty="0">
                <a:solidFill>
                  <a:srgbClr val="8D0000"/>
                </a:solidFill>
                <a:latin typeface="Poppins Bold"/>
                <a:ea typeface="Poppins Bold"/>
                <a:cs typeface="Poppins Bold"/>
                <a:sym typeface="Poppins Bold"/>
              </a:rPr>
              <a:t>TEAM</a:t>
            </a:r>
          </a:p>
        </p:txBody>
      </p:sp>
      <p:sp>
        <p:nvSpPr>
          <p:cNvPr id="35" name="TextBox 35"/>
          <p:cNvSpPr txBox="1"/>
          <p:nvPr/>
        </p:nvSpPr>
        <p:spPr>
          <a:xfrm>
            <a:off x="8721816" y="4324335"/>
            <a:ext cx="4229856" cy="246606"/>
          </a:xfrm>
          <a:prstGeom prst="rect">
            <a:avLst/>
          </a:prstGeom>
        </p:spPr>
        <p:txBody>
          <a:bodyPr lIns="0" tIns="0" rIns="0" bIns="0" rtlCol="0" anchor="t">
            <a:spAutoFit/>
          </a:bodyPr>
          <a:lstStyle/>
          <a:p>
            <a:pPr algn="ctr">
              <a:lnSpc>
                <a:spcPts val="1929"/>
              </a:lnSpc>
            </a:pPr>
            <a:r>
              <a:rPr lang="en-US" sz="1929" b="1" dirty="0">
                <a:solidFill>
                  <a:srgbClr val="000000"/>
                </a:solidFill>
                <a:latin typeface="Canva Sans Bold"/>
                <a:ea typeface="Canva Sans Bold"/>
                <a:cs typeface="Canva Sans Bold"/>
                <a:sym typeface="Canva Sans Bold"/>
              </a:rPr>
              <a:t>Ahmed Mahany</a:t>
            </a:r>
          </a:p>
        </p:txBody>
      </p:sp>
      <p:sp>
        <p:nvSpPr>
          <p:cNvPr id="37" name="TextBox 37"/>
          <p:cNvSpPr txBox="1"/>
          <p:nvPr/>
        </p:nvSpPr>
        <p:spPr>
          <a:xfrm>
            <a:off x="13029444" y="4343385"/>
            <a:ext cx="4229856" cy="246606"/>
          </a:xfrm>
          <a:prstGeom prst="rect">
            <a:avLst/>
          </a:prstGeom>
        </p:spPr>
        <p:txBody>
          <a:bodyPr lIns="0" tIns="0" rIns="0" bIns="0" rtlCol="0" anchor="t">
            <a:spAutoFit/>
          </a:bodyPr>
          <a:lstStyle/>
          <a:p>
            <a:pPr algn="ctr">
              <a:lnSpc>
                <a:spcPts val="1929"/>
              </a:lnSpc>
            </a:pPr>
            <a:r>
              <a:rPr lang="en-US" sz="1929" b="1" dirty="0">
                <a:solidFill>
                  <a:srgbClr val="000000"/>
                </a:solidFill>
                <a:latin typeface="Canva Sans Bold"/>
                <a:ea typeface="Canva Sans Bold"/>
                <a:cs typeface="Canva Sans Bold"/>
                <a:sym typeface="Canva Sans Bold"/>
              </a:rPr>
              <a:t>Amr Ramadan</a:t>
            </a:r>
          </a:p>
        </p:txBody>
      </p:sp>
      <p:sp>
        <p:nvSpPr>
          <p:cNvPr id="39" name="TextBox 39"/>
          <p:cNvSpPr txBox="1"/>
          <p:nvPr/>
        </p:nvSpPr>
        <p:spPr>
          <a:xfrm>
            <a:off x="12906069" y="8171315"/>
            <a:ext cx="4229856" cy="246606"/>
          </a:xfrm>
          <a:prstGeom prst="rect">
            <a:avLst/>
          </a:prstGeom>
        </p:spPr>
        <p:txBody>
          <a:bodyPr lIns="0" tIns="0" rIns="0" bIns="0" rtlCol="0" anchor="t">
            <a:spAutoFit/>
          </a:bodyPr>
          <a:lstStyle/>
          <a:p>
            <a:pPr algn="ctr">
              <a:lnSpc>
                <a:spcPts val="1929"/>
              </a:lnSpc>
            </a:pPr>
            <a:r>
              <a:rPr lang="en-US" sz="1929" b="1" dirty="0">
                <a:solidFill>
                  <a:srgbClr val="000000"/>
                </a:solidFill>
                <a:latin typeface="Canva Sans"/>
                <a:ea typeface="Canva Sans"/>
                <a:cs typeface="Canva Sans"/>
                <a:sym typeface="Canva Sans"/>
              </a:rPr>
              <a:t>Sarah Abu </a:t>
            </a:r>
            <a:r>
              <a:rPr lang="en-US" sz="1929" b="1" dirty="0" err="1">
                <a:solidFill>
                  <a:srgbClr val="000000"/>
                </a:solidFill>
                <a:latin typeface="Canva Sans"/>
                <a:ea typeface="Canva Sans"/>
                <a:cs typeface="Canva Sans"/>
                <a:sym typeface="Canva Sans"/>
              </a:rPr>
              <a:t>ElGheiit</a:t>
            </a:r>
            <a:endParaRPr lang="en-US" sz="1929" b="1" dirty="0">
              <a:solidFill>
                <a:srgbClr val="000000"/>
              </a:solidFill>
              <a:latin typeface="Canva Sans"/>
              <a:ea typeface="Canva Sans"/>
              <a:cs typeface="Canva Sans"/>
              <a:sym typeface="Canva Sans"/>
            </a:endParaRPr>
          </a:p>
        </p:txBody>
      </p:sp>
      <p:sp>
        <p:nvSpPr>
          <p:cNvPr id="41" name="TextBox 41"/>
          <p:cNvSpPr txBox="1"/>
          <p:nvPr/>
        </p:nvSpPr>
        <p:spPr>
          <a:xfrm>
            <a:off x="8721815" y="8248409"/>
            <a:ext cx="4229856" cy="246606"/>
          </a:xfrm>
          <a:prstGeom prst="rect">
            <a:avLst/>
          </a:prstGeom>
        </p:spPr>
        <p:txBody>
          <a:bodyPr lIns="0" tIns="0" rIns="0" bIns="0" rtlCol="0" anchor="t">
            <a:spAutoFit/>
          </a:bodyPr>
          <a:lstStyle/>
          <a:p>
            <a:pPr algn="ctr">
              <a:lnSpc>
                <a:spcPts val="1929"/>
              </a:lnSpc>
            </a:pPr>
            <a:r>
              <a:rPr lang="en-US" sz="1929" b="1" dirty="0">
                <a:solidFill>
                  <a:srgbClr val="000000"/>
                </a:solidFill>
                <a:latin typeface="Canva Sans Bold"/>
                <a:ea typeface="Canva Sans Bold"/>
                <a:cs typeface="Canva Sans Bold"/>
                <a:sym typeface="Canva Sans Bold"/>
              </a:rPr>
              <a:t>Mostafa Eldeeb</a:t>
            </a:r>
          </a:p>
        </p:txBody>
      </p:sp>
      <p:pic>
        <p:nvPicPr>
          <p:cNvPr id="44" name="Picture 43" descr="A person standing next to a pole&#10;&#10;AI-generated content may be incorrect.">
            <a:extLst>
              <a:ext uri="{FF2B5EF4-FFF2-40B4-BE49-F238E27FC236}">
                <a16:creationId xmlns:a16="http://schemas.microsoft.com/office/drawing/2014/main" id="{AC4D540C-F299-5736-8103-78DD20A8A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4342" y="1464007"/>
            <a:ext cx="2500059" cy="2500059"/>
          </a:xfrm>
          <a:prstGeom prst="rect">
            <a:avLst/>
          </a:prstGeom>
        </p:spPr>
      </p:pic>
      <p:pic>
        <p:nvPicPr>
          <p:cNvPr id="46" name="Picture 45" descr="A person wearing a hoodie&#10;&#10;AI-generated content may be incorrect.">
            <a:extLst>
              <a:ext uri="{FF2B5EF4-FFF2-40B4-BE49-F238E27FC236}">
                <a16:creationId xmlns:a16="http://schemas.microsoft.com/office/drawing/2014/main" id="{E0D307CC-DDC4-8391-6246-A652F07911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80707" y="5117012"/>
            <a:ext cx="2508889" cy="2530803"/>
          </a:xfrm>
          <a:prstGeom prst="rect">
            <a:avLst/>
          </a:prstGeom>
        </p:spPr>
      </p:pic>
      <p:pic>
        <p:nvPicPr>
          <p:cNvPr id="50" name="Picture 49" descr="A person with short dark hair wearing a suit&#10;&#10;AI-generated content may be incorrect.">
            <a:extLst>
              <a:ext uri="{FF2B5EF4-FFF2-40B4-BE49-F238E27FC236}">
                <a16:creationId xmlns:a16="http://schemas.microsoft.com/office/drawing/2014/main" id="{3AD29955-8B66-9204-9A06-2C590D832B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86711" y="1480822"/>
            <a:ext cx="2500059" cy="2500059"/>
          </a:xfrm>
          <a:prstGeom prst="rect">
            <a:avLst/>
          </a:prstGeom>
        </p:spPr>
      </p:pic>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ppt_w/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 calcmode="lin" valueType="num">
                                      <p:cBhvr>
                                        <p:cTn id="9" dur="1000" fill="hold"/>
                                        <p:tgtEl>
                                          <p:spTgt spid="2"/>
                                        </p:tgtEl>
                                        <p:attrNameLst>
                                          <p:attrName>ppt_w</p:attrName>
                                        </p:attrNameLst>
                                      </p:cBhvr>
                                      <p:tavLst>
                                        <p:tav tm="0">
                                          <p:val>
                                            <p:fltVal val="0"/>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childTnLst>
                                </p:cTn>
                              </p:par>
                              <p:par>
                                <p:cTn id="11" presetID="8" presetClass="emph" presetSubtype="0" fill="hold" nodeType="withEffect">
                                  <p:stCondLst>
                                    <p:cond delay="0"/>
                                  </p:stCondLst>
                                  <p:childTnLst>
                                    <p:animRot by="10800000">
                                      <p:cBhvr>
                                        <p:cTn id="12" dur="1000" fill="hold"/>
                                        <p:tgtEl>
                                          <p:spTgt spid="2"/>
                                        </p:tgtEl>
                                        <p:attrNameLst>
                                          <p:attrName>r</p:attrName>
                                        </p:attrNameLst>
                                      </p:cBhvr>
                                    </p:animRot>
                                  </p:childTnLst>
                                </p:cTn>
                              </p:par>
                              <p:par>
                                <p:cTn id="13" presetID="17" presetClass="entr" presetSubtype="2"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750" fill="hold"/>
                                        <p:tgtEl>
                                          <p:spTgt spid="14"/>
                                        </p:tgtEl>
                                        <p:attrNameLst>
                                          <p:attrName>ppt_x</p:attrName>
                                        </p:attrNameLst>
                                      </p:cBhvr>
                                      <p:tavLst>
                                        <p:tav tm="0">
                                          <p:val>
                                            <p:strVal val="#ppt_x+#ppt_w/2"/>
                                          </p:val>
                                        </p:tav>
                                        <p:tav tm="100000">
                                          <p:val>
                                            <p:strVal val="#ppt_x"/>
                                          </p:val>
                                        </p:tav>
                                      </p:tavLst>
                                    </p:anim>
                                    <p:anim calcmode="lin" valueType="num">
                                      <p:cBhvr>
                                        <p:cTn id="16" dur="750" fill="hold"/>
                                        <p:tgtEl>
                                          <p:spTgt spid="14"/>
                                        </p:tgtEl>
                                        <p:attrNameLst>
                                          <p:attrName>ppt_y</p:attrName>
                                        </p:attrNameLst>
                                      </p:cBhvr>
                                      <p:tavLst>
                                        <p:tav tm="0">
                                          <p:val>
                                            <p:strVal val="#ppt_y"/>
                                          </p:val>
                                        </p:tav>
                                        <p:tav tm="100000">
                                          <p:val>
                                            <p:strVal val="#ppt_y"/>
                                          </p:val>
                                        </p:tav>
                                      </p:tavLst>
                                    </p:anim>
                                    <p:anim calcmode="lin" valueType="num">
                                      <p:cBhvr>
                                        <p:cTn id="17" dur="750" fill="hold"/>
                                        <p:tgtEl>
                                          <p:spTgt spid="14"/>
                                        </p:tgtEl>
                                        <p:attrNameLst>
                                          <p:attrName>ppt_w</p:attrName>
                                        </p:attrNameLst>
                                      </p:cBhvr>
                                      <p:tavLst>
                                        <p:tav tm="0">
                                          <p:val>
                                            <p:fltVal val="0"/>
                                          </p:val>
                                        </p:tav>
                                        <p:tav tm="100000">
                                          <p:val>
                                            <p:strVal val="#ppt_w"/>
                                          </p:val>
                                        </p:tav>
                                      </p:tavLst>
                                    </p:anim>
                                    <p:anim calcmode="lin" valueType="num">
                                      <p:cBhvr>
                                        <p:cTn id="18" dur="750" fill="hold"/>
                                        <p:tgtEl>
                                          <p:spTgt spid="14"/>
                                        </p:tgtEl>
                                        <p:attrNameLst>
                                          <p:attrName>ppt_h</p:attrName>
                                        </p:attrNameLst>
                                      </p:cBhvr>
                                      <p:tavLst>
                                        <p:tav tm="0">
                                          <p:val>
                                            <p:strVal val="#ppt_h"/>
                                          </p:val>
                                        </p:tav>
                                        <p:tav tm="100000">
                                          <p:val>
                                            <p:strVal val="#ppt_h"/>
                                          </p:val>
                                        </p:tav>
                                      </p:tavLst>
                                    </p:anim>
                                  </p:childTnLst>
                                </p:cTn>
                              </p:par>
                              <p:par>
                                <p:cTn id="19" presetID="17" presetClass="entr" presetSubtype="8"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750" fill="hold"/>
                                        <p:tgtEl>
                                          <p:spTgt spid="11"/>
                                        </p:tgtEl>
                                        <p:attrNameLst>
                                          <p:attrName>ppt_x</p:attrName>
                                        </p:attrNameLst>
                                      </p:cBhvr>
                                      <p:tavLst>
                                        <p:tav tm="0">
                                          <p:val>
                                            <p:strVal val="#ppt_x-#ppt_w/2"/>
                                          </p:val>
                                        </p:tav>
                                        <p:tav tm="100000">
                                          <p:val>
                                            <p:strVal val="#ppt_x"/>
                                          </p:val>
                                        </p:tav>
                                      </p:tavLst>
                                    </p:anim>
                                    <p:anim calcmode="lin" valueType="num">
                                      <p:cBhvr>
                                        <p:cTn id="22" dur="750" fill="hold"/>
                                        <p:tgtEl>
                                          <p:spTgt spid="11"/>
                                        </p:tgtEl>
                                        <p:attrNameLst>
                                          <p:attrName>ppt_y</p:attrName>
                                        </p:attrNameLst>
                                      </p:cBhvr>
                                      <p:tavLst>
                                        <p:tav tm="0">
                                          <p:val>
                                            <p:strVal val="#ppt_y"/>
                                          </p:val>
                                        </p:tav>
                                        <p:tav tm="100000">
                                          <p:val>
                                            <p:strVal val="#ppt_y"/>
                                          </p:val>
                                        </p:tav>
                                      </p:tavLst>
                                    </p:anim>
                                    <p:anim calcmode="lin" valueType="num">
                                      <p:cBhvr>
                                        <p:cTn id="23" dur="750" fill="hold"/>
                                        <p:tgtEl>
                                          <p:spTgt spid="11"/>
                                        </p:tgtEl>
                                        <p:attrNameLst>
                                          <p:attrName>ppt_w</p:attrName>
                                        </p:attrNameLst>
                                      </p:cBhvr>
                                      <p:tavLst>
                                        <p:tav tm="0">
                                          <p:val>
                                            <p:fltVal val="0"/>
                                          </p:val>
                                        </p:tav>
                                        <p:tav tm="100000">
                                          <p:val>
                                            <p:strVal val="#ppt_w"/>
                                          </p:val>
                                        </p:tav>
                                      </p:tavLst>
                                    </p:anim>
                                    <p:anim calcmode="lin" valueType="num">
                                      <p:cBhvr>
                                        <p:cTn id="24" dur="750" fill="hold"/>
                                        <p:tgtEl>
                                          <p:spTgt spid="11"/>
                                        </p:tgtEl>
                                        <p:attrNameLst>
                                          <p:attrName>ppt_h</p:attrName>
                                        </p:attrNameLst>
                                      </p:cBhvr>
                                      <p:tavLst>
                                        <p:tav tm="0">
                                          <p:val>
                                            <p:strVal val="#ppt_h"/>
                                          </p:val>
                                        </p:tav>
                                        <p:tav tm="100000">
                                          <p:val>
                                            <p:strVal val="#ppt_h"/>
                                          </p:val>
                                        </p:tav>
                                      </p:tavLst>
                                    </p:anim>
                                  </p:childTnLst>
                                </p:cTn>
                              </p:par>
                              <p:par>
                                <p:cTn id="25" presetID="2" presetClass="entr" presetSubtype="4" fill="hold" nodeType="withEffect">
                                  <p:stCondLst>
                                    <p:cond delay="40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750" fill="hold"/>
                                        <p:tgtEl>
                                          <p:spTgt spid="44"/>
                                        </p:tgtEl>
                                        <p:attrNameLst>
                                          <p:attrName>ppt_x</p:attrName>
                                        </p:attrNameLst>
                                      </p:cBhvr>
                                      <p:tavLst>
                                        <p:tav tm="0">
                                          <p:val>
                                            <p:strVal val="#ppt_x"/>
                                          </p:val>
                                        </p:tav>
                                        <p:tav tm="100000">
                                          <p:val>
                                            <p:strVal val="#ppt_x"/>
                                          </p:val>
                                        </p:tav>
                                      </p:tavLst>
                                    </p:anim>
                                    <p:anim calcmode="lin" valueType="num">
                                      <p:cBhvr additive="base">
                                        <p:cTn id="28" dur="750" fill="hold"/>
                                        <p:tgtEl>
                                          <p:spTgt spid="44"/>
                                        </p:tgtEl>
                                        <p:attrNameLst>
                                          <p:attrName>ppt_y</p:attrName>
                                        </p:attrNameLst>
                                      </p:cBhvr>
                                      <p:tavLst>
                                        <p:tav tm="0">
                                          <p:val>
                                            <p:strVal val="1+#ppt_h/2"/>
                                          </p:val>
                                        </p:tav>
                                        <p:tav tm="100000">
                                          <p:val>
                                            <p:strVal val="#ppt_y"/>
                                          </p:val>
                                        </p:tav>
                                      </p:tavLst>
                                    </p:anim>
                                  </p:childTnLst>
                                </p:cTn>
                              </p:par>
                              <p:par>
                                <p:cTn id="29" presetID="42" presetClass="entr" presetSubtype="0" fill="hold" nodeType="withEffect">
                                  <p:stCondLst>
                                    <p:cond delay="40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anim calcmode="lin" valueType="num">
                                      <p:cBhvr>
                                        <p:cTn id="32" dur="1000" fill="hold"/>
                                        <p:tgtEl>
                                          <p:spTgt spid="22"/>
                                        </p:tgtEl>
                                        <p:attrNameLst>
                                          <p:attrName>ppt_x</p:attrName>
                                        </p:attrNameLst>
                                      </p:cBhvr>
                                      <p:tavLst>
                                        <p:tav tm="0">
                                          <p:val>
                                            <p:strVal val="#ppt_x"/>
                                          </p:val>
                                        </p:tav>
                                        <p:tav tm="100000">
                                          <p:val>
                                            <p:strVal val="#ppt_x"/>
                                          </p:val>
                                        </p:tav>
                                      </p:tavLst>
                                    </p:anim>
                                    <p:anim calcmode="lin" valueType="num">
                                      <p:cBhvr>
                                        <p:cTn id="33" dur="1000" fill="hold"/>
                                        <p:tgtEl>
                                          <p:spTgt spid="22"/>
                                        </p:tgtEl>
                                        <p:attrNameLst>
                                          <p:attrName>ppt_y</p:attrName>
                                        </p:attrNameLst>
                                      </p:cBhvr>
                                      <p:tavLst>
                                        <p:tav tm="0">
                                          <p:val>
                                            <p:strVal val="#ppt_y+.1"/>
                                          </p:val>
                                        </p:tav>
                                        <p:tav tm="100000">
                                          <p:val>
                                            <p:strVal val="#ppt_y"/>
                                          </p:val>
                                        </p:tav>
                                      </p:tavLst>
                                    </p:anim>
                                  </p:childTnLst>
                                </p:cTn>
                              </p:par>
                              <p:par>
                                <p:cTn id="34" presetID="2" presetClass="entr" presetSubtype="4" fill="hold" nodeType="withEffect">
                                  <p:stCondLst>
                                    <p:cond delay="400"/>
                                  </p:stCondLst>
                                  <p:childTnLst>
                                    <p:set>
                                      <p:cBhvr>
                                        <p:cTn id="35" dur="1" fill="hold">
                                          <p:stCondLst>
                                            <p:cond delay="0"/>
                                          </p:stCondLst>
                                        </p:cTn>
                                        <p:tgtEl>
                                          <p:spTgt spid="50"/>
                                        </p:tgtEl>
                                        <p:attrNameLst>
                                          <p:attrName>style.visibility</p:attrName>
                                        </p:attrNameLst>
                                      </p:cBhvr>
                                      <p:to>
                                        <p:strVal val="visible"/>
                                      </p:to>
                                    </p:set>
                                    <p:anim calcmode="lin" valueType="num">
                                      <p:cBhvr additive="base">
                                        <p:cTn id="36" dur="750" fill="hold"/>
                                        <p:tgtEl>
                                          <p:spTgt spid="50"/>
                                        </p:tgtEl>
                                        <p:attrNameLst>
                                          <p:attrName>ppt_x</p:attrName>
                                        </p:attrNameLst>
                                      </p:cBhvr>
                                      <p:tavLst>
                                        <p:tav tm="0">
                                          <p:val>
                                            <p:strVal val="#ppt_x"/>
                                          </p:val>
                                        </p:tav>
                                        <p:tav tm="100000">
                                          <p:val>
                                            <p:strVal val="#ppt_x"/>
                                          </p:val>
                                        </p:tav>
                                      </p:tavLst>
                                    </p:anim>
                                    <p:anim calcmode="lin" valueType="num">
                                      <p:cBhvr additive="base">
                                        <p:cTn id="37" dur="750" fill="hold"/>
                                        <p:tgtEl>
                                          <p:spTgt spid="50"/>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400"/>
                                  </p:stCondLst>
                                  <p:childTnLst>
                                    <p:set>
                                      <p:cBhvr>
                                        <p:cTn id="39" dur="1" fill="hold">
                                          <p:stCondLst>
                                            <p:cond delay="0"/>
                                          </p:stCondLst>
                                        </p:cTn>
                                        <p:tgtEl>
                                          <p:spTgt spid="46"/>
                                        </p:tgtEl>
                                        <p:attrNameLst>
                                          <p:attrName>style.visibility</p:attrName>
                                        </p:attrNameLst>
                                      </p:cBhvr>
                                      <p:to>
                                        <p:strVal val="visible"/>
                                      </p:to>
                                    </p:set>
                                    <p:anim calcmode="lin" valueType="num">
                                      <p:cBhvr additive="base">
                                        <p:cTn id="40" dur="750" fill="hold"/>
                                        <p:tgtEl>
                                          <p:spTgt spid="46"/>
                                        </p:tgtEl>
                                        <p:attrNameLst>
                                          <p:attrName>ppt_x</p:attrName>
                                        </p:attrNameLst>
                                      </p:cBhvr>
                                      <p:tavLst>
                                        <p:tav tm="0">
                                          <p:val>
                                            <p:strVal val="#ppt_x"/>
                                          </p:val>
                                        </p:tav>
                                        <p:tav tm="100000">
                                          <p:val>
                                            <p:strVal val="#ppt_x"/>
                                          </p:val>
                                        </p:tav>
                                      </p:tavLst>
                                    </p:anim>
                                    <p:anim calcmode="lin" valueType="num">
                                      <p:cBhvr additive="base">
                                        <p:cTn id="41" dur="750" fill="hold"/>
                                        <p:tgtEl>
                                          <p:spTgt spid="46"/>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400"/>
                                  </p:stCondLst>
                                  <p:childTnLst>
                                    <p:set>
                                      <p:cBhvr>
                                        <p:cTn id="43" dur="1" fill="hold">
                                          <p:stCondLst>
                                            <p:cond delay="0"/>
                                          </p:stCondLst>
                                        </p:cTn>
                                        <p:tgtEl>
                                          <p:spTgt spid="35"/>
                                        </p:tgtEl>
                                        <p:attrNameLst>
                                          <p:attrName>style.visibility</p:attrName>
                                        </p:attrNameLst>
                                      </p:cBhvr>
                                      <p:to>
                                        <p:strVal val="visible"/>
                                      </p:to>
                                    </p:set>
                                    <p:anim calcmode="lin" valueType="num">
                                      <p:cBhvr additive="base">
                                        <p:cTn id="44" dur="750" fill="hold"/>
                                        <p:tgtEl>
                                          <p:spTgt spid="35"/>
                                        </p:tgtEl>
                                        <p:attrNameLst>
                                          <p:attrName>ppt_x</p:attrName>
                                        </p:attrNameLst>
                                      </p:cBhvr>
                                      <p:tavLst>
                                        <p:tav tm="0">
                                          <p:val>
                                            <p:strVal val="#ppt_x"/>
                                          </p:val>
                                        </p:tav>
                                        <p:tav tm="100000">
                                          <p:val>
                                            <p:strVal val="#ppt_x"/>
                                          </p:val>
                                        </p:tav>
                                      </p:tavLst>
                                    </p:anim>
                                    <p:anim calcmode="lin" valueType="num">
                                      <p:cBhvr additive="base">
                                        <p:cTn id="45" dur="750" fill="hold"/>
                                        <p:tgtEl>
                                          <p:spTgt spid="35"/>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400"/>
                                  </p:stCondLst>
                                  <p:childTnLst>
                                    <p:set>
                                      <p:cBhvr>
                                        <p:cTn id="47" dur="1" fill="hold">
                                          <p:stCondLst>
                                            <p:cond delay="0"/>
                                          </p:stCondLst>
                                        </p:cTn>
                                        <p:tgtEl>
                                          <p:spTgt spid="37"/>
                                        </p:tgtEl>
                                        <p:attrNameLst>
                                          <p:attrName>style.visibility</p:attrName>
                                        </p:attrNameLst>
                                      </p:cBhvr>
                                      <p:to>
                                        <p:strVal val="visible"/>
                                      </p:to>
                                    </p:set>
                                    <p:anim calcmode="lin" valueType="num">
                                      <p:cBhvr additive="base">
                                        <p:cTn id="48" dur="750" fill="hold"/>
                                        <p:tgtEl>
                                          <p:spTgt spid="37"/>
                                        </p:tgtEl>
                                        <p:attrNameLst>
                                          <p:attrName>ppt_x</p:attrName>
                                        </p:attrNameLst>
                                      </p:cBhvr>
                                      <p:tavLst>
                                        <p:tav tm="0">
                                          <p:val>
                                            <p:strVal val="#ppt_x"/>
                                          </p:val>
                                        </p:tav>
                                        <p:tav tm="100000">
                                          <p:val>
                                            <p:strVal val="#ppt_x"/>
                                          </p:val>
                                        </p:tav>
                                      </p:tavLst>
                                    </p:anim>
                                    <p:anim calcmode="lin" valueType="num">
                                      <p:cBhvr additive="base">
                                        <p:cTn id="49" dur="750" fill="hold"/>
                                        <p:tgtEl>
                                          <p:spTgt spid="37"/>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400"/>
                                  </p:stCondLst>
                                  <p:childTnLst>
                                    <p:set>
                                      <p:cBhvr>
                                        <p:cTn id="51" dur="1" fill="hold">
                                          <p:stCondLst>
                                            <p:cond delay="0"/>
                                          </p:stCondLst>
                                        </p:cTn>
                                        <p:tgtEl>
                                          <p:spTgt spid="39"/>
                                        </p:tgtEl>
                                        <p:attrNameLst>
                                          <p:attrName>style.visibility</p:attrName>
                                        </p:attrNameLst>
                                      </p:cBhvr>
                                      <p:to>
                                        <p:strVal val="visible"/>
                                      </p:to>
                                    </p:set>
                                    <p:anim calcmode="lin" valueType="num">
                                      <p:cBhvr additive="base">
                                        <p:cTn id="52" dur="750" fill="hold"/>
                                        <p:tgtEl>
                                          <p:spTgt spid="39"/>
                                        </p:tgtEl>
                                        <p:attrNameLst>
                                          <p:attrName>ppt_x</p:attrName>
                                        </p:attrNameLst>
                                      </p:cBhvr>
                                      <p:tavLst>
                                        <p:tav tm="0">
                                          <p:val>
                                            <p:strVal val="#ppt_x"/>
                                          </p:val>
                                        </p:tav>
                                        <p:tav tm="100000">
                                          <p:val>
                                            <p:strVal val="#ppt_x"/>
                                          </p:val>
                                        </p:tav>
                                      </p:tavLst>
                                    </p:anim>
                                    <p:anim calcmode="lin" valueType="num">
                                      <p:cBhvr additive="base">
                                        <p:cTn id="53" dur="750" fill="hold"/>
                                        <p:tgtEl>
                                          <p:spTgt spid="39"/>
                                        </p:tgtEl>
                                        <p:attrNameLst>
                                          <p:attrName>ppt_y</p:attrName>
                                        </p:attrNameLst>
                                      </p:cBhvr>
                                      <p:tavLst>
                                        <p:tav tm="0">
                                          <p:val>
                                            <p:strVal val="1+#ppt_h/2"/>
                                          </p:val>
                                        </p:tav>
                                        <p:tav tm="100000">
                                          <p:val>
                                            <p:strVal val="#ppt_y"/>
                                          </p:val>
                                        </p:tav>
                                      </p:tavLst>
                                    </p:anim>
                                  </p:childTnLst>
                                </p:cTn>
                              </p:par>
                              <p:par>
                                <p:cTn id="54" presetID="42" presetClass="entr" presetSubtype="0" fill="hold" nodeType="withEffect">
                                  <p:stCondLst>
                                    <p:cond delay="40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1000"/>
                                        <p:tgtEl>
                                          <p:spTgt spid="27"/>
                                        </p:tgtEl>
                                      </p:cBhvr>
                                    </p:animEffect>
                                    <p:anim calcmode="lin" valueType="num">
                                      <p:cBhvr>
                                        <p:cTn id="57" dur="1000" fill="hold"/>
                                        <p:tgtEl>
                                          <p:spTgt spid="27"/>
                                        </p:tgtEl>
                                        <p:attrNameLst>
                                          <p:attrName>ppt_x</p:attrName>
                                        </p:attrNameLst>
                                      </p:cBhvr>
                                      <p:tavLst>
                                        <p:tav tm="0">
                                          <p:val>
                                            <p:strVal val="#ppt_x"/>
                                          </p:val>
                                        </p:tav>
                                        <p:tav tm="100000">
                                          <p:val>
                                            <p:strVal val="#ppt_x"/>
                                          </p:val>
                                        </p:tav>
                                      </p:tavLst>
                                    </p:anim>
                                    <p:anim calcmode="lin" valueType="num">
                                      <p:cBhvr>
                                        <p:cTn id="58" dur="1000" fill="hold"/>
                                        <p:tgtEl>
                                          <p:spTgt spid="27"/>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4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1000"/>
                                        <p:tgtEl>
                                          <p:spTgt spid="17"/>
                                        </p:tgtEl>
                                      </p:cBhvr>
                                    </p:animEffect>
                                    <p:anim calcmode="lin" valueType="num">
                                      <p:cBhvr>
                                        <p:cTn id="62" dur="1000" fill="hold"/>
                                        <p:tgtEl>
                                          <p:spTgt spid="17"/>
                                        </p:tgtEl>
                                        <p:attrNameLst>
                                          <p:attrName>ppt_x</p:attrName>
                                        </p:attrNameLst>
                                      </p:cBhvr>
                                      <p:tavLst>
                                        <p:tav tm="0">
                                          <p:val>
                                            <p:strVal val="#ppt_x"/>
                                          </p:val>
                                        </p:tav>
                                        <p:tav tm="100000">
                                          <p:val>
                                            <p:strVal val="#ppt_x"/>
                                          </p:val>
                                        </p:tav>
                                      </p:tavLst>
                                    </p:anim>
                                    <p:anim calcmode="lin" valueType="num">
                                      <p:cBhvr>
                                        <p:cTn id="63" dur="1000" fill="hold"/>
                                        <p:tgtEl>
                                          <p:spTgt spid="17"/>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400"/>
                                  </p:stCondLst>
                                  <p:childTnLst>
                                    <p:set>
                                      <p:cBhvr>
                                        <p:cTn id="65" dur="1" fill="hold">
                                          <p:stCondLst>
                                            <p:cond delay="0"/>
                                          </p:stCondLst>
                                        </p:cTn>
                                        <p:tgtEl>
                                          <p:spTgt spid="6"/>
                                        </p:tgtEl>
                                        <p:attrNameLst>
                                          <p:attrName>style.visibility</p:attrName>
                                        </p:attrNameLst>
                                      </p:cBhvr>
                                      <p:to>
                                        <p:strVal val="visible"/>
                                      </p:to>
                                    </p:set>
                                    <p:animEffect transition="in" filter="fade">
                                      <p:cBhvr>
                                        <p:cTn id="66" dur="1000"/>
                                        <p:tgtEl>
                                          <p:spTgt spid="6"/>
                                        </p:tgtEl>
                                      </p:cBhvr>
                                    </p:animEffect>
                                    <p:anim calcmode="lin" valueType="num">
                                      <p:cBhvr>
                                        <p:cTn id="67" dur="1000" fill="hold"/>
                                        <p:tgtEl>
                                          <p:spTgt spid="6"/>
                                        </p:tgtEl>
                                        <p:attrNameLst>
                                          <p:attrName>ppt_x</p:attrName>
                                        </p:attrNameLst>
                                      </p:cBhvr>
                                      <p:tavLst>
                                        <p:tav tm="0">
                                          <p:val>
                                            <p:strVal val="#ppt_x"/>
                                          </p:val>
                                        </p:tav>
                                        <p:tav tm="100000">
                                          <p:val>
                                            <p:strVal val="#ppt_x"/>
                                          </p:val>
                                        </p:tav>
                                      </p:tavLst>
                                    </p:anim>
                                    <p:anim calcmode="lin" valueType="num">
                                      <p:cBhvr>
                                        <p:cTn id="68" dur="1000" fill="hold"/>
                                        <p:tgtEl>
                                          <p:spTgt spid="6"/>
                                        </p:tgtEl>
                                        <p:attrNameLst>
                                          <p:attrName>ppt_y</p:attrName>
                                        </p:attrNameLst>
                                      </p:cBhvr>
                                      <p:tavLst>
                                        <p:tav tm="0">
                                          <p:val>
                                            <p:strVal val="#ppt_y+.1"/>
                                          </p:val>
                                        </p:tav>
                                        <p:tav tm="100000">
                                          <p:val>
                                            <p:strVal val="#ppt_y"/>
                                          </p:val>
                                        </p:tav>
                                      </p:tavLst>
                                    </p:anim>
                                  </p:childTnLst>
                                </p:cTn>
                              </p:par>
                              <p:par>
                                <p:cTn id="69" presetID="2" presetClass="entr" presetSubtype="4" fill="hold" grpId="0" nodeType="withEffect">
                                  <p:stCondLst>
                                    <p:cond delay="400"/>
                                  </p:stCondLst>
                                  <p:childTnLst>
                                    <p:set>
                                      <p:cBhvr>
                                        <p:cTn id="70" dur="1" fill="hold">
                                          <p:stCondLst>
                                            <p:cond delay="0"/>
                                          </p:stCondLst>
                                        </p:cTn>
                                        <p:tgtEl>
                                          <p:spTgt spid="41"/>
                                        </p:tgtEl>
                                        <p:attrNameLst>
                                          <p:attrName>style.visibility</p:attrName>
                                        </p:attrNameLst>
                                      </p:cBhvr>
                                      <p:to>
                                        <p:strVal val="visible"/>
                                      </p:to>
                                    </p:set>
                                    <p:anim calcmode="lin" valueType="num">
                                      <p:cBhvr additive="base">
                                        <p:cTn id="71" dur="750" fill="hold"/>
                                        <p:tgtEl>
                                          <p:spTgt spid="41"/>
                                        </p:tgtEl>
                                        <p:attrNameLst>
                                          <p:attrName>ppt_x</p:attrName>
                                        </p:attrNameLst>
                                      </p:cBhvr>
                                      <p:tavLst>
                                        <p:tav tm="0">
                                          <p:val>
                                            <p:strVal val="#ppt_x"/>
                                          </p:val>
                                        </p:tav>
                                        <p:tav tm="100000">
                                          <p:val>
                                            <p:strVal val="#ppt_x"/>
                                          </p:val>
                                        </p:tav>
                                      </p:tavLst>
                                    </p:anim>
                                    <p:anim calcmode="lin" valueType="num">
                                      <p:cBhvr additive="base">
                                        <p:cTn id="72" dur="750" fill="hold"/>
                                        <p:tgtEl>
                                          <p:spTgt spid="41"/>
                                        </p:tgtEl>
                                        <p:attrNameLst>
                                          <p:attrName>ppt_y</p:attrName>
                                        </p:attrNameLst>
                                      </p:cBhvr>
                                      <p:tavLst>
                                        <p:tav tm="0">
                                          <p:val>
                                            <p:strVal val="1+#ppt_h/2"/>
                                          </p:val>
                                        </p:tav>
                                        <p:tav tm="100000">
                                          <p:val>
                                            <p:strVal val="#ppt_y"/>
                                          </p:val>
                                        </p:tav>
                                      </p:tavLst>
                                    </p:anim>
                                  </p:childTnLst>
                                </p:cTn>
                              </p:par>
                            </p:childTnLst>
                          </p:cTn>
                        </p:par>
                        <p:par>
                          <p:cTn id="73" fill="hold">
                            <p:stCondLst>
                              <p:cond delay="1400"/>
                            </p:stCondLst>
                            <p:childTnLst>
                              <p:par>
                                <p:cTn id="74" presetID="10" presetClass="entr" presetSubtype="0" fill="hold" grpId="0" nodeType="after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500"/>
                                        <p:tgtEl>
                                          <p:spTgt spid="32"/>
                                        </p:tgtEl>
                                      </p:cBhvr>
                                    </p:animEffect>
                                  </p:childTnLst>
                                </p:cTn>
                              </p:par>
                            </p:childTnLst>
                          </p:cTn>
                        </p:par>
                        <p:par>
                          <p:cTn id="77" fill="hold">
                            <p:stCondLst>
                              <p:cond delay="1900"/>
                            </p:stCondLst>
                            <p:childTnLst>
                              <p:par>
                                <p:cTn id="78" presetID="22" presetClass="entr" presetSubtype="1" fill="hold" grpId="0" nodeType="afterEffect">
                                  <p:stCondLst>
                                    <p:cond delay="0"/>
                                  </p:stCondLst>
                                  <p:childTnLst>
                                    <p:set>
                                      <p:cBhvr>
                                        <p:cTn id="79" dur="1" fill="hold">
                                          <p:stCondLst>
                                            <p:cond delay="0"/>
                                          </p:stCondLst>
                                        </p:cTn>
                                        <p:tgtEl>
                                          <p:spTgt spid="33">
                                            <p:txEl>
                                              <p:pRg st="0" end="0"/>
                                            </p:txEl>
                                          </p:spTgt>
                                        </p:tgtEl>
                                        <p:attrNameLst>
                                          <p:attrName>style.visibility</p:attrName>
                                        </p:attrNameLst>
                                      </p:cBhvr>
                                      <p:to>
                                        <p:strVal val="visible"/>
                                      </p:to>
                                    </p:set>
                                    <p:animEffect transition="in" filter="wipe(up)">
                                      <p:cBhvr>
                                        <p:cTn id="80"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build="allAtOnce"/>
      <p:bldP spid="35" grpId="0"/>
      <p:bldP spid="37" grpId="0"/>
      <p:bldP spid="39" grpId="0"/>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503507">
            <a:off x="8249399" y="1316288"/>
            <a:ext cx="12583451" cy="6795882"/>
            <a:chOff x="0" y="0"/>
            <a:chExt cx="3314160" cy="1789862"/>
          </a:xfrm>
        </p:grpSpPr>
        <p:sp>
          <p:nvSpPr>
            <p:cNvPr id="3" name="Freeform 3"/>
            <p:cNvSpPr/>
            <p:nvPr/>
          </p:nvSpPr>
          <p:spPr>
            <a:xfrm>
              <a:off x="0" y="0"/>
              <a:ext cx="3314160" cy="1789862"/>
            </a:xfrm>
            <a:custGeom>
              <a:avLst/>
              <a:gdLst/>
              <a:ahLst/>
              <a:cxnLst/>
              <a:rect l="l" t="t" r="r" b="b"/>
              <a:pathLst>
                <a:path w="3314160" h="1789862">
                  <a:moveTo>
                    <a:pt x="31378" y="0"/>
                  </a:moveTo>
                  <a:lnTo>
                    <a:pt x="3282783" y="0"/>
                  </a:lnTo>
                  <a:cubicBezTo>
                    <a:pt x="3300112" y="0"/>
                    <a:pt x="3314160" y="14048"/>
                    <a:pt x="3314160" y="31378"/>
                  </a:cubicBezTo>
                  <a:lnTo>
                    <a:pt x="3314160" y="1758484"/>
                  </a:lnTo>
                  <a:cubicBezTo>
                    <a:pt x="3314160" y="1775814"/>
                    <a:pt x="3300112" y="1789862"/>
                    <a:pt x="3282783" y="1789862"/>
                  </a:cubicBezTo>
                  <a:lnTo>
                    <a:pt x="31378" y="1789862"/>
                  </a:lnTo>
                  <a:cubicBezTo>
                    <a:pt x="14048" y="1789862"/>
                    <a:pt x="0" y="1775814"/>
                    <a:pt x="0" y="1758484"/>
                  </a:cubicBezTo>
                  <a:lnTo>
                    <a:pt x="0" y="31378"/>
                  </a:lnTo>
                  <a:cubicBezTo>
                    <a:pt x="0" y="14048"/>
                    <a:pt x="14048" y="0"/>
                    <a:pt x="31378" y="0"/>
                  </a:cubicBezTo>
                  <a:close/>
                </a:path>
              </a:pathLst>
            </a:custGeom>
            <a:solidFill>
              <a:schemeClr val="accent2">
                <a:lumMod val="60000"/>
                <a:lumOff val="40000"/>
              </a:schemeClr>
            </a:solidFill>
          </p:spPr>
          <p:txBody>
            <a:bodyPr/>
            <a:lstStyle/>
            <a:p>
              <a:endParaRPr lang="en-US"/>
            </a:p>
          </p:txBody>
        </p:sp>
        <p:sp>
          <p:nvSpPr>
            <p:cNvPr id="4" name="TextBox 4"/>
            <p:cNvSpPr txBox="1"/>
            <p:nvPr/>
          </p:nvSpPr>
          <p:spPr>
            <a:xfrm>
              <a:off x="0" y="-333375"/>
              <a:ext cx="3314160" cy="2123237"/>
            </a:xfrm>
            <a:prstGeom prst="rect">
              <a:avLst/>
            </a:prstGeom>
          </p:spPr>
          <p:txBody>
            <a:bodyPr lIns="50800" tIns="50800" rIns="50800" bIns="50800" rtlCol="0" anchor="ctr"/>
            <a:lstStyle/>
            <a:p>
              <a:pPr algn="ctr">
                <a:lnSpc>
                  <a:spcPts val="6249"/>
                </a:lnSpc>
              </a:pPr>
              <a:endParaRPr/>
            </a:p>
          </p:txBody>
        </p:sp>
      </p:grpSp>
      <p:sp>
        <p:nvSpPr>
          <p:cNvPr id="9" name="Rectangle 8">
            <a:extLst>
              <a:ext uri="{FF2B5EF4-FFF2-40B4-BE49-F238E27FC236}">
                <a16:creationId xmlns:a16="http://schemas.microsoft.com/office/drawing/2014/main" id="{D9EE527B-ACB7-231A-F528-E1DF61535626}"/>
              </a:ext>
            </a:extLst>
          </p:cNvPr>
          <p:cNvSpPr/>
          <p:nvPr/>
        </p:nvSpPr>
        <p:spPr>
          <a:xfrm>
            <a:off x="8349718" y="4838700"/>
            <a:ext cx="10090682" cy="54483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5"/>
          <p:cNvGrpSpPr/>
          <p:nvPr/>
        </p:nvGrpSpPr>
        <p:grpSpPr>
          <a:xfrm>
            <a:off x="10950901" y="1493267"/>
            <a:ext cx="6830900" cy="7300465"/>
            <a:chOff x="0" y="0"/>
            <a:chExt cx="1799085" cy="1922756"/>
          </a:xfrm>
        </p:grpSpPr>
        <p:sp>
          <p:nvSpPr>
            <p:cNvPr id="6" name="Freeform 6"/>
            <p:cNvSpPr/>
            <p:nvPr/>
          </p:nvSpPr>
          <p:spPr>
            <a:xfrm>
              <a:off x="0" y="0"/>
              <a:ext cx="1799085" cy="1922756"/>
            </a:xfrm>
            <a:custGeom>
              <a:avLst/>
              <a:gdLst/>
              <a:ahLst/>
              <a:cxnLst/>
              <a:rect l="l" t="t" r="r" b="b"/>
              <a:pathLst>
                <a:path w="1799085" h="1922756">
                  <a:moveTo>
                    <a:pt x="57802" y="0"/>
                  </a:moveTo>
                  <a:lnTo>
                    <a:pt x="1741283" y="0"/>
                  </a:lnTo>
                  <a:cubicBezTo>
                    <a:pt x="1756613" y="0"/>
                    <a:pt x="1771315" y="6090"/>
                    <a:pt x="1782155" y="16930"/>
                  </a:cubicBezTo>
                  <a:cubicBezTo>
                    <a:pt x="1792995" y="27770"/>
                    <a:pt x="1799085" y="42472"/>
                    <a:pt x="1799085" y="57802"/>
                  </a:cubicBezTo>
                  <a:lnTo>
                    <a:pt x="1799085" y="1864955"/>
                  </a:lnTo>
                  <a:cubicBezTo>
                    <a:pt x="1799085" y="1896878"/>
                    <a:pt x="1773206" y="1922756"/>
                    <a:pt x="1741283" y="1922756"/>
                  </a:cubicBezTo>
                  <a:lnTo>
                    <a:pt x="57802" y="1922756"/>
                  </a:lnTo>
                  <a:cubicBezTo>
                    <a:pt x="25879" y="1922756"/>
                    <a:pt x="0" y="1896878"/>
                    <a:pt x="0" y="1864955"/>
                  </a:cubicBezTo>
                  <a:lnTo>
                    <a:pt x="0" y="57802"/>
                  </a:lnTo>
                  <a:cubicBezTo>
                    <a:pt x="0" y="25879"/>
                    <a:pt x="25879" y="0"/>
                    <a:pt x="57802" y="0"/>
                  </a:cubicBezTo>
                  <a:close/>
                </a:path>
              </a:pathLst>
            </a:custGeom>
            <a:solidFill>
              <a:srgbClr val="8D2B2B"/>
            </a:solidFill>
          </p:spPr>
          <p:txBody>
            <a:bodyPr/>
            <a:lstStyle/>
            <a:p>
              <a:endParaRPr lang="en-US"/>
            </a:p>
          </p:txBody>
        </p:sp>
        <p:sp>
          <p:nvSpPr>
            <p:cNvPr id="7" name="TextBox 7"/>
            <p:cNvSpPr txBox="1"/>
            <p:nvPr/>
          </p:nvSpPr>
          <p:spPr>
            <a:xfrm>
              <a:off x="0" y="-333375"/>
              <a:ext cx="1799085" cy="2256131"/>
            </a:xfrm>
            <a:prstGeom prst="rect">
              <a:avLst/>
            </a:prstGeom>
          </p:spPr>
          <p:txBody>
            <a:bodyPr lIns="50800" tIns="50800" rIns="50800" bIns="50800" rtlCol="0" anchor="ctr"/>
            <a:lstStyle/>
            <a:p>
              <a:pPr algn="ctr">
                <a:lnSpc>
                  <a:spcPts val="6249"/>
                </a:lnSpc>
              </a:pPr>
              <a:endParaRPr/>
            </a:p>
          </p:txBody>
        </p:sp>
      </p:grpSp>
      <p:sp>
        <p:nvSpPr>
          <p:cNvPr id="8" name="AutoShape 8"/>
          <p:cNvSpPr/>
          <p:nvPr/>
        </p:nvSpPr>
        <p:spPr>
          <a:xfrm>
            <a:off x="-2185362" y="3210262"/>
            <a:ext cx="8918179" cy="19050"/>
          </a:xfrm>
          <a:prstGeom prst="line">
            <a:avLst/>
          </a:prstGeom>
          <a:ln w="28575" cap="flat">
            <a:solidFill>
              <a:srgbClr val="000000"/>
            </a:solidFill>
            <a:prstDash val="solid"/>
            <a:headEnd type="none" w="sm" len="sm"/>
            <a:tailEnd type="none" w="sm" len="sm"/>
          </a:ln>
        </p:spPr>
        <p:txBody>
          <a:bodyPr/>
          <a:lstStyle/>
          <a:p>
            <a:endParaRPr lang="en-US"/>
          </a:p>
        </p:txBody>
      </p:sp>
      <p:sp>
        <p:nvSpPr>
          <p:cNvPr id="11" name="TextBox 11"/>
          <p:cNvSpPr txBox="1"/>
          <p:nvPr/>
        </p:nvSpPr>
        <p:spPr>
          <a:xfrm>
            <a:off x="1115297" y="1143000"/>
            <a:ext cx="3408672" cy="778521"/>
          </a:xfrm>
          <a:prstGeom prst="rect">
            <a:avLst/>
          </a:prstGeom>
        </p:spPr>
        <p:txBody>
          <a:bodyPr lIns="0" tIns="0" rIns="0" bIns="0" rtlCol="0" anchor="t">
            <a:spAutoFit/>
          </a:bodyPr>
          <a:lstStyle/>
          <a:p>
            <a:pPr algn="l">
              <a:lnSpc>
                <a:spcPts val="5900"/>
              </a:lnSpc>
            </a:pPr>
            <a:r>
              <a:rPr lang="en-US" sz="5900" b="1" dirty="0">
                <a:solidFill>
                  <a:srgbClr val="000000"/>
                </a:solidFill>
                <a:latin typeface="Canva Sans Bold"/>
                <a:ea typeface="Canva Sans Bold"/>
                <a:cs typeface="Canva Sans Bold"/>
                <a:sym typeface="Canva Sans Bold"/>
              </a:rPr>
              <a:t>About</a:t>
            </a:r>
          </a:p>
        </p:txBody>
      </p:sp>
      <p:sp>
        <p:nvSpPr>
          <p:cNvPr id="12" name="TextBox 12"/>
          <p:cNvSpPr txBox="1"/>
          <p:nvPr/>
        </p:nvSpPr>
        <p:spPr>
          <a:xfrm>
            <a:off x="1115297" y="2007880"/>
            <a:ext cx="6760254" cy="937821"/>
          </a:xfrm>
          <a:prstGeom prst="rect">
            <a:avLst/>
          </a:prstGeom>
        </p:spPr>
        <p:txBody>
          <a:bodyPr lIns="0" tIns="0" rIns="0" bIns="0" rtlCol="0" anchor="t">
            <a:spAutoFit/>
          </a:bodyPr>
          <a:lstStyle/>
          <a:p>
            <a:pPr algn="l">
              <a:lnSpc>
                <a:spcPts val="7100"/>
              </a:lnSpc>
            </a:pPr>
            <a:r>
              <a:rPr lang="en-US" sz="7100" b="1" dirty="0">
                <a:solidFill>
                  <a:srgbClr val="8D0000"/>
                </a:solidFill>
                <a:latin typeface="Poppins Bold"/>
                <a:ea typeface="Poppins Bold"/>
                <a:cs typeface="Poppins Bold"/>
                <a:sym typeface="Poppins Bold"/>
              </a:rPr>
              <a:t>Description</a:t>
            </a:r>
          </a:p>
        </p:txBody>
      </p:sp>
      <p:sp>
        <p:nvSpPr>
          <p:cNvPr id="13" name="TextBox 13"/>
          <p:cNvSpPr txBox="1"/>
          <p:nvPr/>
        </p:nvSpPr>
        <p:spPr>
          <a:xfrm>
            <a:off x="304800" y="3374890"/>
            <a:ext cx="9987502" cy="4757328"/>
          </a:xfrm>
          <a:prstGeom prst="rect">
            <a:avLst/>
          </a:prstGeom>
        </p:spPr>
        <p:txBody>
          <a:bodyPr wrap="square" lIns="0" tIns="0" rIns="0" bIns="0" rtlCol="0" anchor="t">
            <a:spAutoFit/>
          </a:bodyPr>
          <a:lstStyle/>
          <a:p>
            <a:pPr lvl="0" algn="just">
              <a:lnSpc>
                <a:spcPts val="3104"/>
              </a:lnSpc>
              <a:spcBef>
                <a:spcPct val="0"/>
              </a:spcBef>
            </a:pPr>
            <a:r>
              <a:rPr lang="en-US" sz="2400" b="1" spc="71" dirty="0">
                <a:solidFill>
                  <a:srgbClr val="2B2B2B"/>
                </a:solidFill>
                <a:latin typeface="Poppins"/>
                <a:ea typeface="Poppins"/>
                <a:cs typeface="Poppins"/>
                <a:sym typeface="Poppins"/>
              </a:rPr>
              <a:t>As we know that the Number of automobiles Companies increase in short-term time and almost every year there're a big change in number of challengers against Tesla's Automobile segment in making Specific Fuel based Cars with different amazing car designs  ,So in this presentation we will be providing an overview of Financial Stocks for Tesla showing it's current situation based on the change of the price of stock and comparing its car sales against other challengers who provide the same car performance and how eligible they are with showing how legal is Tesla Etc. is the company following the governmental political terms in making car license and method recording it?</a:t>
            </a:r>
            <a:endParaRPr lang="en-US" sz="2400" b="1" u="none" spc="71" dirty="0">
              <a:solidFill>
                <a:srgbClr val="2B2B2B"/>
              </a:solidFill>
              <a:latin typeface="Poppins"/>
              <a:ea typeface="Poppins"/>
              <a:cs typeface="Poppins"/>
              <a:sym typeface="Poppins"/>
            </a:endParaRPr>
          </a:p>
        </p:txBody>
      </p:sp>
      <p:pic>
        <p:nvPicPr>
          <p:cNvPr id="17" name="Picture 16" descr="A white car in a dark room&#10;&#10;AI-generated content may be incorrect.">
            <a:extLst>
              <a:ext uri="{FF2B5EF4-FFF2-40B4-BE49-F238E27FC236}">
                <a16:creationId xmlns:a16="http://schemas.microsoft.com/office/drawing/2014/main" id="{75A4C9B1-B2F7-0BA1-0D67-D1ECEB922E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04120" y="1646717"/>
            <a:ext cx="6524461" cy="3581400"/>
          </a:xfrm>
          <a:prstGeom prst="rect">
            <a:avLst/>
          </a:prstGeom>
        </p:spPr>
      </p:pic>
      <p:pic>
        <p:nvPicPr>
          <p:cNvPr id="19" name="Picture 18" descr="A car parked on a road&#10;&#10;AI-generated content may be incorrect.">
            <a:extLst>
              <a:ext uri="{FF2B5EF4-FFF2-40B4-BE49-F238E27FC236}">
                <a16:creationId xmlns:a16="http://schemas.microsoft.com/office/drawing/2014/main" id="{334AF1A2-7B08-1661-6FFB-08C0E09447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21242" y="5228117"/>
            <a:ext cx="6524461" cy="3421633"/>
          </a:xfrm>
          <a:prstGeom prst="rect">
            <a:avLst/>
          </a:prstGeom>
        </p:spPr>
      </p:pic>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1000"/>
                                        <p:tgtEl>
                                          <p:spTgt spid="12">
                                            <p:txEl>
                                              <p:pRg st="0" end="0"/>
                                            </p:txEl>
                                          </p:spTgt>
                                        </p:tgtEl>
                                      </p:cBhvr>
                                    </p:animEffect>
                                  </p:childTnLst>
                                </p:cTn>
                              </p:par>
                              <p:par>
                                <p:cTn id="11" presetID="53" presetClass="entr" presetSubtype="528" fill="hold" nodeType="withEffect">
                                  <p:stCondLst>
                                    <p:cond delay="75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fltVal val="0.5"/>
                                          </p:val>
                                        </p:tav>
                                        <p:tav tm="100000">
                                          <p:val>
                                            <p:strVal val="#ppt_x"/>
                                          </p:val>
                                        </p:tav>
                                      </p:tavLst>
                                    </p:anim>
                                    <p:anim calcmode="lin" valueType="num">
                                      <p:cBhvr>
                                        <p:cTn id="17" dur="1000" fill="hold"/>
                                        <p:tgtEl>
                                          <p:spTgt spid="5"/>
                                        </p:tgtEl>
                                        <p:attrNameLst>
                                          <p:attrName>ppt_y</p:attrName>
                                        </p:attrNameLst>
                                      </p:cBhvr>
                                      <p:tavLst>
                                        <p:tav tm="0">
                                          <p:val>
                                            <p:fltVal val="0.5"/>
                                          </p:val>
                                        </p:tav>
                                        <p:tav tm="100000">
                                          <p:val>
                                            <p:strVal val="#ppt_y"/>
                                          </p:val>
                                        </p:tav>
                                      </p:tavLst>
                                    </p:anim>
                                  </p:childTnLst>
                                </p:cTn>
                              </p:par>
                              <p:par>
                                <p:cTn id="18" presetID="53" presetClass="entr" presetSubtype="528" fill="hold" nodeType="withEffect">
                                  <p:stCondLst>
                                    <p:cond delay="750"/>
                                  </p:stCondLst>
                                  <p:childTnLst>
                                    <p:set>
                                      <p:cBhvr>
                                        <p:cTn id="19" dur="1" fill="hold">
                                          <p:stCondLst>
                                            <p:cond delay="0"/>
                                          </p:stCondLst>
                                        </p:cTn>
                                        <p:tgtEl>
                                          <p:spTgt spid="17"/>
                                        </p:tgtEl>
                                        <p:attrNameLst>
                                          <p:attrName>style.visibility</p:attrName>
                                        </p:attrNameLst>
                                      </p:cBhvr>
                                      <p:to>
                                        <p:strVal val="visible"/>
                                      </p:to>
                                    </p:set>
                                    <p:anim calcmode="lin" valueType="num">
                                      <p:cBhvr>
                                        <p:cTn id="20" dur="1000" fill="hold"/>
                                        <p:tgtEl>
                                          <p:spTgt spid="17"/>
                                        </p:tgtEl>
                                        <p:attrNameLst>
                                          <p:attrName>ppt_w</p:attrName>
                                        </p:attrNameLst>
                                      </p:cBhvr>
                                      <p:tavLst>
                                        <p:tav tm="0">
                                          <p:val>
                                            <p:fltVal val="0"/>
                                          </p:val>
                                        </p:tav>
                                        <p:tav tm="100000">
                                          <p:val>
                                            <p:strVal val="#ppt_w"/>
                                          </p:val>
                                        </p:tav>
                                      </p:tavLst>
                                    </p:anim>
                                    <p:anim calcmode="lin" valueType="num">
                                      <p:cBhvr>
                                        <p:cTn id="21" dur="1000" fill="hold"/>
                                        <p:tgtEl>
                                          <p:spTgt spid="17"/>
                                        </p:tgtEl>
                                        <p:attrNameLst>
                                          <p:attrName>ppt_h</p:attrName>
                                        </p:attrNameLst>
                                      </p:cBhvr>
                                      <p:tavLst>
                                        <p:tav tm="0">
                                          <p:val>
                                            <p:fltVal val="0"/>
                                          </p:val>
                                        </p:tav>
                                        <p:tav tm="100000">
                                          <p:val>
                                            <p:strVal val="#ppt_h"/>
                                          </p:val>
                                        </p:tav>
                                      </p:tavLst>
                                    </p:anim>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fltVal val="0.5"/>
                                          </p:val>
                                        </p:tav>
                                        <p:tav tm="100000">
                                          <p:val>
                                            <p:strVal val="#ppt_x"/>
                                          </p:val>
                                        </p:tav>
                                      </p:tavLst>
                                    </p:anim>
                                    <p:anim calcmode="lin" valueType="num">
                                      <p:cBhvr>
                                        <p:cTn id="24" dur="1000" fill="hold"/>
                                        <p:tgtEl>
                                          <p:spTgt spid="17"/>
                                        </p:tgtEl>
                                        <p:attrNameLst>
                                          <p:attrName>ppt_y</p:attrName>
                                        </p:attrNameLst>
                                      </p:cBhvr>
                                      <p:tavLst>
                                        <p:tav tm="0">
                                          <p:val>
                                            <p:fltVal val="0.5"/>
                                          </p:val>
                                        </p:tav>
                                        <p:tav tm="100000">
                                          <p:val>
                                            <p:strVal val="#ppt_y"/>
                                          </p:val>
                                        </p:tav>
                                      </p:tavLst>
                                    </p:anim>
                                  </p:childTnLst>
                                </p:cTn>
                              </p:par>
                              <p:par>
                                <p:cTn id="25" presetID="53" presetClass="entr" presetSubtype="528" fill="hold" nodeType="withEffect">
                                  <p:stCondLst>
                                    <p:cond delay="750"/>
                                  </p:stCondLst>
                                  <p:childTnLst>
                                    <p:set>
                                      <p:cBhvr>
                                        <p:cTn id="26" dur="1" fill="hold">
                                          <p:stCondLst>
                                            <p:cond delay="0"/>
                                          </p:stCondLst>
                                        </p:cTn>
                                        <p:tgtEl>
                                          <p:spTgt spid="19"/>
                                        </p:tgtEl>
                                        <p:attrNameLst>
                                          <p:attrName>style.visibility</p:attrName>
                                        </p:attrNameLst>
                                      </p:cBhvr>
                                      <p:to>
                                        <p:strVal val="visible"/>
                                      </p:to>
                                    </p:set>
                                    <p:anim calcmode="lin" valueType="num">
                                      <p:cBhvr>
                                        <p:cTn id="27" dur="1000" fill="hold"/>
                                        <p:tgtEl>
                                          <p:spTgt spid="19"/>
                                        </p:tgtEl>
                                        <p:attrNameLst>
                                          <p:attrName>ppt_w</p:attrName>
                                        </p:attrNameLst>
                                      </p:cBhvr>
                                      <p:tavLst>
                                        <p:tav tm="0">
                                          <p:val>
                                            <p:fltVal val="0"/>
                                          </p:val>
                                        </p:tav>
                                        <p:tav tm="100000">
                                          <p:val>
                                            <p:strVal val="#ppt_w"/>
                                          </p:val>
                                        </p:tav>
                                      </p:tavLst>
                                    </p:anim>
                                    <p:anim calcmode="lin" valueType="num">
                                      <p:cBhvr>
                                        <p:cTn id="28" dur="1000" fill="hold"/>
                                        <p:tgtEl>
                                          <p:spTgt spid="19"/>
                                        </p:tgtEl>
                                        <p:attrNameLst>
                                          <p:attrName>ppt_h</p:attrName>
                                        </p:attrNameLst>
                                      </p:cBhvr>
                                      <p:tavLst>
                                        <p:tav tm="0">
                                          <p:val>
                                            <p:fltVal val="0"/>
                                          </p:val>
                                        </p:tav>
                                        <p:tav tm="100000">
                                          <p:val>
                                            <p:strVal val="#ppt_h"/>
                                          </p:val>
                                        </p:tav>
                                      </p:tavLst>
                                    </p:anim>
                                    <p:animEffect transition="in" filter="fade">
                                      <p:cBhvr>
                                        <p:cTn id="29" dur="1000"/>
                                        <p:tgtEl>
                                          <p:spTgt spid="19"/>
                                        </p:tgtEl>
                                      </p:cBhvr>
                                    </p:animEffect>
                                    <p:anim calcmode="lin" valueType="num">
                                      <p:cBhvr>
                                        <p:cTn id="30" dur="1000" fill="hold"/>
                                        <p:tgtEl>
                                          <p:spTgt spid="19"/>
                                        </p:tgtEl>
                                        <p:attrNameLst>
                                          <p:attrName>ppt_x</p:attrName>
                                        </p:attrNameLst>
                                      </p:cBhvr>
                                      <p:tavLst>
                                        <p:tav tm="0">
                                          <p:val>
                                            <p:fltVal val="0.5"/>
                                          </p:val>
                                        </p:tav>
                                        <p:tav tm="100000">
                                          <p:val>
                                            <p:strVal val="#ppt_x"/>
                                          </p:val>
                                        </p:tav>
                                      </p:tavLst>
                                    </p:anim>
                                    <p:anim calcmode="lin" valueType="num">
                                      <p:cBhvr>
                                        <p:cTn id="31" dur="1000" fill="hold"/>
                                        <p:tgtEl>
                                          <p:spTgt spid="19"/>
                                        </p:tgtEl>
                                        <p:attrNameLst>
                                          <p:attrName>ppt_y</p:attrName>
                                        </p:attrNameLst>
                                      </p:cBhvr>
                                      <p:tavLst>
                                        <p:tav tm="0">
                                          <p:val>
                                            <p:fltVal val="0.5"/>
                                          </p:val>
                                        </p:tav>
                                        <p:tav tm="100000">
                                          <p:val>
                                            <p:strVal val="#ppt_y"/>
                                          </p:val>
                                        </p:tav>
                                      </p:tavLst>
                                    </p:anim>
                                  </p:childTnLst>
                                </p:cTn>
                              </p:par>
                              <p:par>
                                <p:cTn id="32" presetID="37" presetClass="entr" presetSubtype="0" fill="hold" nodeType="withEffect">
                                  <p:stCondLst>
                                    <p:cond delay="25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900" decel="100000" fill="hold"/>
                                        <p:tgtEl>
                                          <p:spTgt spid="2"/>
                                        </p:tgtEl>
                                        <p:attrNameLst>
                                          <p:attrName>ppt_y</p:attrName>
                                        </p:attrNameLst>
                                      </p:cBhvr>
                                      <p:tavLst>
                                        <p:tav tm="0">
                                          <p:val>
                                            <p:strVal val="#ppt_y+1"/>
                                          </p:val>
                                        </p:tav>
                                        <p:tav tm="100000">
                                          <p:val>
                                            <p:strVal val="#ppt_y-.03"/>
                                          </p:val>
                                        </p:tav>
                                      </p:tavLst>
                                    </p:anim>
                                    <p:anim calcmode="lin" valueType="num">
                                      <p:cBhvr>
                                        <p:cTn id="37"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par>
                                <p:cTn id="38" presetID="22" presetClass="entr" presetSubtype="8" fill="hold" grpId="0" nodeType="withEffect">
                                  <p:stCondLst>
                                    <p:cond delay="25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build="allAtOnce"/>
      <p:bldP spid="12" grpId="0" build="allAtOnce"/>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04800" y="2057171"/>
            <a:ext cx="10477585" cy="898195"/>
          </a:xfrm>
          <a:prstGeom prst="rect">
            <a:avLst/>
          </a:prstGeom>
        </p:spPr>
        <p:txBody>
          <a:bodyPr wrap="square" lIns="0" tIns="0" rIns="0" bIns="0" rtlCol="0" anchor="t">
            <a:spAutoFit/>
          </a:bodyPr>
          <a:lstStyle/>
          <a:p>
            <a:pPr algn="l">
              <a:lnSpc>
                <a:spcPts val="6800"/>
              </a:lnSpc>
            </a:pPr>
            <a:r>
              <a:rPr lang="en-US" sz="6600" b="1" dirty="0">
                <a:latin typeface="Poppins Bold"/>
                <a:ea typeface="Poppins Bold"/>
                <a:cs typeface="Poppins Bold"/>
                <a:sym typeface="Poppins Bold"/>
              </a:rPr>
              <a:t>Tesla</a:t>
            </a:r>
            <a:r>
              <a:rPr lang="en-US" sz="6600" b="1" dirty="0">
                <a:solidFill>
                  <a:srgbClr val="8D0000"/>
                </a:solidFill>
                <a:latin typeface="Poppins Bold"/>
                <a:ea typeface="Poppins Bold"/>
                <a:cs typeface="Poppins Bold"/>
                <a:sym typeface="Poppins Bold"/>
              </a:rPr>
              <a:t> </a:t>
            </a:r>
            <a:r>
              <a:rPr lang="en-US" sz="6000" b="1" dirty="0">
                <a:solidFill>
                  <a:srgbClr val="8D0000"/>
                </a:solidFill>
                <a:latin typeface="Poppins Bold"/>
                <a:ea typeface="Poppins Bold"/>
                <a:cs typeface="Poppins Bold"/>
                <a:sym typeface="Poppins Bold"/>
              </a:rPr>
              <a:t>MARKET ANALYSIS</a:t>
            </a:r>
            <a:endParaRPr lang="en-US" sz="6600" b="1" dirty="0">
              <a:solidFill>
                <a:srgbClr val="8D0000"/>
              </a:solidFill>
              <a:latin typeface="Poppins Bold"/>
              <a:ea typeface="Poppins Bold"/>
              <a:cs typeface="Poppins Bold"/>
              <a:sym typeface="Poppins Bold"/>
            </a:endParaRPr>
          </a:p>
        </p:txBody>
      </p:sp>
      <p:sp>
        <p:nvSpPr>
          <p:cNvPr id="3" name="TextBox 3"/>
          <p:cNvSpPr txBox="1"/>
          <p:nvPr/>
        </p:nvSpPr>
        <p:spPr>
          <a:xfrm>
            <a:off x="788179" y="3259546"/>
            <a:ext cx="9182586" cy="2551468"/>
          </a:xfrm>
          <a:prstGeom prst="rect">
            <a:avLst/>
          </a:prstGeom>
        </p:spPr>
        <p:txBody>
          <a:bodyPr wrap="square" lIns="0" tIns="0" rIns="0" bIns="0" rtlCol="0" anchor="t">
            <a:spAutoFit/>
          </a:bodyPr>
          <a:lstStyle/>
          <a:p>
            <a:pPr algn="just">
              <a:lnSpc>
                <a:spcPts val="3999"/>
              </a:lnSpc>
            </a:pPr>
            <a:r>
              <a:rPr lang="en-US" sz="3200" b="1" dirty="0">
                <a:solidFill>
                  <a:srgbClr val="2E2E2E"/>
                </a:solidFill>
                <a:latin typeface="Poppins"/>
                <a:ea typeface="Poppins"/>
                <a:cs typeface="Poppins"/>
                <a:sym typeface="Poppins"/>
              </a:rPr>
              <a:t>Tesla is a leader in the EV market, with a brand value of $76 billion in 2023.- The company has delivered nearly 1.8 million vehicles in 2023, reflecting a 38% increase compared to 2022.</a:t>
            </a:r>
          </a:p>
        </p:txBody>
      </p:sp>
      <p:pic>
        <p:nvPicPr>
          <p:cNvPr id="4" name="Picture 4"/>
          <p:cNvPicPr>
            <a:picLocks noChangeAspect="1"/>
          </p:cNvPicPr>
          <p:nvPr/>
        </p:nvPicPr>
        <p:blipFill>
          <a:blip r:embed="rId2"/>
          <a:stretch>
            <a:fillRect/>
          </a:stretch>
        </p:blipFill>
        <p:spPr>
          <a:xfrm>
            <a:off x="9854407" y="1590213"/>
            <a:ext cx="7417753" cy="7457656"/>
          </a:xfrm>
          <a:prstGeom prst="rect">
            <a:avLst/>
          </a:prstGeom>
        </p:spPr>
      </p:pic>
      <p:grpSp>
        <p:nvGrpSpPr>
          <p:cNvPr id="5" name="Group 5"/>
          <p:cNvGrpSpPr/>
          <p:nvPr/>
        </p:nvGrpSpPr>
        <p:grpSpPr>
          <a:xfrm rot="-3503507">
            <a:off x="5380001" y="9454402"/>
            <a:ext cx="5068421" cy="1710448"/>
            <a:chOff x="0" y="0"/>
            <a:chExt cx="1334893" cy="450488"/>
          </a:xfrm>
        </p:grpSpPr>
        <p:sp>
          <p:nvSpPr>
            <p:cNvPr id="6" name="Freeform 6"/>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7" name="TextBox 7"/>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grpSp>
        <p:nvGrpSpPr>
          <p:cNvPr id="8" name="Group 8"/>
          <p:cNvGrpSpPr/>
          <p:nvPr/>
        </p:nvGrpSpPr>
        <p:grpSpPr>
          <a:xfrm rot="-3503507">
            <a:off x="551042" y="-1554003"/>
            <a:ext cx="5068421" cy="1710448"/>
            <a:chOff x="0" y="0"/>
            <a:chExt cx="1334893" cy="450488"/>
          </a:xfrm>
        </p:grpSpPr>
        <p:sp>
          <p:nvSpPr>
            <p:cNvPr id="9" name="Freeform 9"/>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0" name="TextBox 10"/>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sp>
        <p:nvSpPr>
          <p:cNvPr id="11" name="AutoShape 11"/>
          <p:cNvSpPr/>
          <p:nvPr/>
        </p:nvSpPr>
        <p:spPr>
          <a:xfrm>
            <a:off x="-631378" y="3056759"/>
            <a:ext cx="10602143" cy="0"/>
          </a:xfrm>
          <a:prstGeom prst="line">
            <a:avLst/>
          </a:prstGeom>
          <a:ln w="28575" cap="flat">
            <a:solidFill>
              <a:srgbClr val="000000"/>
            </a:solidFill>
            <a:prstDash val="solid"/>
            <a:headEnd type="none" w="sm" len="sm"/>
            <a:tailEnd type="none" w="sm" len="sm"/>
          </a:ln>
        </p:spPr>
        <p:txBody>
          <a:bodyPr/>
          <a:lstStyle/>
          <a:p>
            <a:endParaRPr lang="en-US"/>
          </a:p>
        </p:txBody>
      </p:sp>
      <p:sp>
        <p:nvSpPr>
          <p:cNvPr id="12" name="TextBox 3">
            <a:extLst>
              <a:ext uri="{FF2B5EF4-FFF2-40B4-BE49-F238E27FC236}">
                <a16:creationId xmlns:a16="http://schemas.microsoft.com/office/drawing/2014/main" id="{30057B8C-CC7B-9E66-0575-520F9AB77EBF}"/>
              </a:ext>
            </a:extLst>
          </p:cNvPr>
          <p:cNvSpPr txBox="1"/>
          <p:nvPr/>
        </p:nvSpPr>
        <p:spPr>
          <a:xfrm>
            <a:off x="550513" y="6211136"/>
            <a:ext cx="9182586" cy="2038507"/>
          </a:xfrm>
          <a:prstGeom prst="rect">
            <a:avLst/>
          </a:prstGeom>
        </p:spPr>
        <p:txBody>
          <a:bodyPr wrap="square" lIns="0" tIns="0" rIns="0" bIns="0" rtlCol="0" anchor="t">
            <a:spAutoFit/>
          </a:bodyPr>
          <a:lstStyle/>
          <a:p>
            <a:pPr algn="just">
              <a:lnSpc>
                <a:spcPts val="3999"/>
              </a:lnSpc>
            </a:pPr>
            <a:r>
              <a:rPr lang="en-US" sz="3200" b="1" dirty="0">
                <a:solidFill>
                  <a:srgbClr val="2E2E2E"/>
                </a:solidFill>
                <a:latin typeface="Poppins"/>
                <a:ea typeface="Poppins"/>
                <a:cs typeface="Poppins"/>
                <a:sym typeface="Poppins"/>
              </a:rPr>
              <a:t>And Interest Rates in Long-term interest rates have remained high, with the Federal Reserve's monetary policy playing a crucial role in shaping the market.</a:t>
            </a:r>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ppt_x"/>
                                          </p:val>
                                        </p:tav>
                                        <p:tav tm="100000">
                                          <p:val>
                                            <p:strVal val="#ppt_x"/>
                                          </p:val>
                                        </p:tav>
                                      </p:tavLst>
                                    </p:anim>
                                    <p:anim calcmode="lin" valueType="num">
                                      <p:cBhvr additive="base">
                                        <p:cTn id="8" dur="750" fill="hold"/>
                                        <p:tgtEl>
                                          <p:spTgt spid="8"/>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750" fill="hold"/>
                                        <p:tgtEl>
                                          <p:spTgt spid="5"/>
                                        </p:tgtEl>
                                        <p:attrNameLst>
                                          <p:attrName>ppt_x</p:attrName>
                                        </p:attrNameLst>
                                      </p:cBhvr>
                                      <p:tavLst>
                                        <p:tav tm="0">
                                          <p:val>
                                            <p:strVal val="#ppt_x"/>
                                          </p:val>
                                        </p:tav>
                                        <p:tav tm="100000">
                                          <p:val>
                                            <p:strVal val="#ppt_x"/>
                                          </p:val>
                                        </p:tav>
                                      </p:tavLst>
                                    </p:anim>
                                    <p:anim calcmode="lin" valueType="num">
                                      <p:cBhvr additive="base">
                                        <p:cTn id="12" dur="750" fill="hold"/>
                                        <p:tgtEl>
                                          <p:spTgt spid="5"/>
                                        </p:tgtEl>
                                        <p:attrNameLst>
                                          <p:attrName>ppt_y</p:attrName>
                                        </p:attrNameLst>
                                      </p:cBhvr>
                                      <p:tavLst>
                                        <p:tav tm="0">
                                          <p:val>
                                            <p:strVal val="1+#ppt_h/2"/>
                                          </p:val>
                                        </p:tav>
                                        <p:tav tm="100000">
                                          <p:val>
                                            <p:strVal val="#ppt_y"/>
                                          </p:val>
                                        </p:tav>
                                      </p:tavLst>
                                    </p:anim>
                                  </p:childTnLst>
                                </p:cTn>
                              </p:par>
                              <p:par>
                                <p:cTn id="13" presetID="22" presetClass="entr" presetSubtype="8"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par>
                                <p:cTn id="16" presetID="22" presetClass="entr" presetSubtype="1" fill="hold"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wipe(up)">
                                      <p:cBhvr>
                                        <p:cTn id="18" dur="2000"/>
                                        <p:tgtEl>
                                          <p:spTgt spid="4"/>
                                        </p:tgtEl>
                                      </p:cBhvr>
                                    </p:animEffect>
                                  </p:childTnLst>
                                </p:cTn>
                              </p:par>
                              <p:par>
                                <p:cTn id="19" presetID="10" presetClass="entr" presetSubtype="0" fill="hold" grpId="0" nodeType="withEffect">
                                  <p:stCondLst>
                                    <p:cond delay="50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childTnLst>
                                </p:cTn>
                              </p:par>
                              <p:par>
                                <p:cTn id="22" presetID="22" presetClass="entr" presetSubtype="1" fill="hold" grpId="0" nodeType="withEffect">
                                  <p:stCondLst>
                                    <p:cond delay="500"/>
                                  </p:stCondLst>
                                  <p:childTnLst>
                                    <p:set>
                                      <p:cBhvr>
                                        <p:cTn id="23" dur="1" fill="hold">
                                          <p:stCondLst>
                                            <p:cond delay="0"/>
                                          </p:stCondLst>
                                        </p:cTn>
                                        <p:tgtEl>
                                          <p:spTgt spid="3"/>
                                        </p:tgtEl>
                                        <p:attrNameLst>
                                          <p:attrName>style.visibility</p:attrName>
                                        </p:attrNameLst>
                                      </p:cBhvr>
                                      <p:to>
                                        <p:strVal val="visible"/>
                                      </p:to>
                                    </p:set>
                                    <p:animEffect transition="in" filter="wipe(up)">
                                      <p:cBhvr>
                                        <p:cTn id="24" dur="1500"/>
                                        <p:tgtEl>
                                          <p:spTgt spid="3"/>
                                        </p:tgtEl>
                                      </p:cBhvr>
                                    </p:animEffect>
                                  </p:childTnLst>
                                </p:cTn>
                              </p:par>
                              <p:par>
                                <p:cTn id="25" presetID="22" presetClass="entr" presetSubtype="1" fill="hold" grpId="0" nodeType="withEffect">
                                  <p:stCondLst>
                                    <p:cond delay="150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1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BEEA-0E0C-6893-F83D-5E8DCD65F6E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D95A76A7-10A8-0B11-2491-C4B98B705053}"/>
              </a:ext>
            </a:extLst>
          </p:cNvPr>
          <p:cNvSpPr txBox="1"/>
          <p:nvPr/>
        </p:nvSpPr>
        <p:spPr>
          <a:xfrm>
            <a:off x="1204284" y="1964866"/>
            <a:ext cx="9057268" cy="898195"/>
          </a:xfrm>
          <a:prstGeom prst="rect">
            <a:avLst/>
          </a:prstGeom>
        </p:spPr>
        <p:txBody>
          <a:bodyPr lIns="0" tIns="0" rIns="0" bIns="0" rtlCol="0" anchor="t">
            <a:spAutoFit/>
          </a:bodyPr>
          <a:lstStyle/>
          <a:p>
            <a:pPr algn="l">
              <a:lnSpc>
                <a:spcPts val="6800"/>
              </a:lnSpc>
            </a:pPr>
            <a:r>
              <a:rPr lang="en-US" sz="6800" b="1" dirty="0">
                <a:solidFill>
                  <a:srgbClr val="8D0000"/>
                </a:solidFill>
                <a:latin typeface="Poppins Bold"/>
                <a:ea typeface="Poppins Bold"/>
                <a:cs typeface="Poppins Bold"/>
                <a:sym typeface="Poppins Bold"/>
              </a:rPr>
              <a:t>Data Source</a:t>
            </a:r>
          </a:p>
        </p:txBody>
      </p:sp>
      <p:grpSp>
        <p:nvGrpSpPr>
          <p:cNvPr id="5" name="Group 5">
            <a:extLst>
              <a:ext uri="{FF2B5EF4-FFF2-40B4-BE49-F238E27FC236}">
                <a16:creationId xmlns:a16="http://schemas.microsoft.com/office/drawing/2014/main" id="{66083A94-FF38-7351-B2CF-DAAF1921FC0B}"/>
              </a:ext>
            </a:extLst>
          </p:cNvPr>
          <p:cNvGrpSpPr/>
          <p:nvPr/>
        </p:nvGrpSpPr>
        <p:grpSpPr>
          <a:xfrm rot="-3503507">
            <a:off x="5380001" y="9454402"/>
            <a:ext cx="5068421" cy="1710448"/>
            <a:chOff x="0" y="0"/>
            <a:chExt cx="1334893" cy="450488"/>
          </a:xfrm>
        </p:grpSpPr>
        <p:sp>
          <p:nvSpPr>
            <p:cNvPr id="6" name="Freeform 6">
              <a:extLst>
                <a:ext uri="{FF2B5EF4-FFF2-40B4-BE49-F238E27FC236}">
                  <a16:creationId xmlns:a16="http://schemas.microsoft.com/office/drawing/2014/main" id="{0967571F-0EAD-1385-A251-A316BFBB679C}"/>
                </a:ext>
              </a:extLst>
            </p:cNvPr>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7" name="TextBox 7">
              <a:extLst>
                <a:ext uri="{FF2B5EF4-FFF2-40B4-BE49-F238E27FC236}">
                  <a16:creationId xmlns:a16="http://schemas.microsoft.com/office/drawing/2014/main" id="{FE095A7A-C8BA-3D4C-6A78-9EC44E8678FD}"/>
                </a:ext>
              </a:extLst>
            </p:cNvPr>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grpSp>
        <p:nvGrpSpPr>
          <p:cNvPr id="8" name="Group 8">
            <a:extLst>
              <a:ext uri="{FF2B5EF4-FFF2-40B4-BE49-F238E27FC236}">
                <a16:creationId xmlns:a16="http://schemas.microsoft.com/office/drawing/2014/main" id="{5CD18D1E-1F1B-3536-B43E-B2717746B61A}"/>
              </a:ext>
            </a:extLst>
          </p:cNvPr>
          <p:cNvGrpSpPr/>
          <p:nvPr/>
        </p:nvGrpSpPr>
        <p:grpSpPr>
          <a:xfrm rot="-3503507">
            <a:off x="551042" y="-1554003"/>
            <a:ext cx="5068421" cy="1710448"/>
            <a:chOff x="0" y="0"/>
            <a:chExt cx="1334893" cy="450488"/>
          </a:xfrm>
        </p:grpSpPr>
        <p:sp>
          <p:nvSpPr>
            <p:cNvPr id="9" name="Freeform 9">
              <a:extLst>
                <a:ext uri="{FF2B5EF4-FFF2-40B4-BE49-F238E27FC236}">
                  <a16:creationId xmlns:a16="http://schemas.microsoft.com/office/drawing/2014/main" id="{C6A3D0E1-1B03-6E10-1C83-34FBDA48A717}"/>
                </a:ext>
              </a:extLst>
            </p:cNvPr>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0" name="TextBox 10">
              <a:extLst>
                <a:ext uri="{FF2B5EF4-FFF2-40B4-BE49-F238E27FC236}">
                  <a16:creationId xmlns:a16="http://schemas.microsoft.com/office/drawing/2014/main" id="{EF8A85A9-0491-EF66-AA48-C882BC59BE14}"/>
                </a:ext>
              </a:extLst>
            </p:cNvPr>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sp>
        <p:nvSpPr>
          <p:cNvPr id="11" name="AutoShape 11">
            <a:extLst>
              <a:ext uri="{FF2B5EF4-FFF2-40B4-BE49-F238E27FC236}">
                <a16:creationId xmlns:a16="http://schemas.microsoft.com/office/drawing/2014/main" id="{DEE7786E-8448-93C2-9485-E54E18F1ECCA}"/>
              </a:ext>
            </a:extLst>
          </p:cNvPr>
          <p:cNvSpPr/>
          <p:nvPr/>
        </p:nvSpPr>
        <p:spPr>
          <a:xfrm>
            <a:off x="-631378" y="3056759"/>
            <a:ext cx="10602143" cy="0"/>
          </a:xfrm>
          <a:prstGeom prst="line">
            <a:avLst/>
          </a:prstGeom>
          <a:ln w="28575" cap="flat">
            <a:solidFill>
              <a:srgbClr val="000000"/>
            </a:solidFill>
            <a:prstDash val="solid"/>
            <a:headEnd type="none" w="sm" len="sm"/>
            <a:tailEnd type="none" w="sm" len="sm"/>
          </a:ln>
        </p:spPr>
        <p:txBody>
          <a:bodyPr/>
          <a:lstStyle/>
          <a:p>
            <a:endParaRPr lang="en-US"/>
          </a:p>
        </p:txBody>
      </p:sp>
      <p:sp>
        <p:nvSpPr>
          <p:cNvPr id="13" name="Rectangle 12">
            <a:extLst>
              <a:ext uri="{FF2B5EF4-FFF2-40B4-BE49-F238E27FC236}">
                <a16:creationId xmlns:a16="http://schemas.microsoft.com/office/drawing/2014/main" id="{01ED34CB-480B-A3FC-903B-D83AF59A5F31}"/>
              </a:ext>
            </a:extLst>
          </p:cNvPr>
          <p:cNvSpPr/>
          <p:nvPr/>
        </p:nvSpPr>
        <p:spPr>
          <a:xfrm>
            <a:off x="-49309" y="3616611"/>
            <a:ext cx="16173338" cy="923330"/>
          </a:xfrm>
          <a:prstGeom prst="rect">
            <a:avLst/>
          </a:prstGeom>
          <a:noFill/>
        </p:spPr>
        <p:txBody>
          <a:bodyPr wrap="none" lIns="91440" tIns="45720" rIns="91440" bIns="45720">
            <a:spAutoFit/>
          </a:bodyPr>
          <a:lstStyle/>
          <a:p>
            <a:pPr marL="685800" indent="-685800" algn="ctr">
              <a:buFont typeface="Arial" panose="020B0604020202020204" pitchFamily="34" charset="0"/>
              <a:buChar char="•"/>
            </a:pPr>
            <a:r>
              <a:rPr lang="en-US" sz="5400" dirty="0">
                <a:hlinkClick r:id="rId2"/>
              </a:rPr>
              <a:t>Investing.com - Stock Market Quotes &amp; Financial News</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4" name="Freeform 3">
            <a:extLst>
              <a:ext uri="{FF2B5EF4-FFF2-40B4-BE49-F238E27FC236}">
                <a16:creationId xmlns:a16="http://schemas.microsoft.com/office/drawing/2014/main" id="{ABFF8DA5-B1C9-413B-4B32-2245BB1A9BE5}"/>
              </a:ext>
            </a:extLst>
          </p:cNvPr>
          <p:cNvSpPr/>
          <p:nvPr/>
        </p:nvSpPr>
        <p:spPr>
          <a:xfrm rot="18988055">
            <a:off x="13479011" y="4818797"/>
            <a:ext cx="7658100" cy="1978123"/>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chemeClr val="accent2">
              <a:lumMod val="40000"/>
              <a:lumOff val="60000"/>
            </a:schemeClr>
          </a:solidFill>
        </p:spPr>
        <p:txBody>
          <a:bodyPr/>
          <a:lstStyle/>
          <a:p>
            <a:endParaRPr lang="en-US" dirty="0"/>
          </a:p>
        </p:txBody>
      </p:sp>
      <p:sp>
        <p:nvSpPr>
          <p:cNvPr id="12" name="TextBox 4">
            <a:extLst>
              <a:ext uri="{FF2B5EF4-FFF2-40B4-BE49-F238E27FC236}">
                <a16:creationId xmlns:a16="http://schemas.microsoft.com/office/drawing/2014/main" id="{4A9D811E-51F3-B62C-B999-91C8A4184529}"/>
              </a:ext>
            </a:extLst>
          </p:cNvPr>
          <p:cNvSpPr txBox="1"/>
          <p:nvPr/>
        </p:nvSpPr>
        <p:spPr>
          <a:xfrm rot="18988055">
            <a:off x="14299033" y="3324847"/>
            <a:ext cx="7658100" cy="6692312"/>
          </a:xfrm>
          <a:prstGeom prst="rect">
            <a:avLst/>
          </a:prstGeom>
        </p:spPr>
        <p:txBody>
          <a:bodyPr lIns="50800" tIns="50800" rIns="50800" bIns="50800" rtlCol="0" anchor="ctr"/>
          <a:lstStyle/>
          <a:p>
            <a:pPr algn="ctr">
              <a:lnSpc>
                <a:spcPts val="6249"/>
              </a:lnSpc>
            </a:pPr>
            <a:endParaRPr/>
          </a:p>
        </p:txBody>
      </p:sp>
      <p:sp>
        <p:nvSpPr>
          <p:cNvPr id="14" name="Freeform 3">
            <a:extLst>
              <a:ext uri="{FF2B5EF4-FFF2-40B4-BE49-F238E27FC236}">
                <a16:creationId xmlns:a16="http://schemas.microsoft.com/office/drawing/2014/main" id="{5B573A3E-5FA2-B967-3C31-08E97028C474}"/>
              </a:ext>
            </a:extLst>
          </p:cNvPr>
          <p:cNvSpPr/>
          <p:nvPr/>
        </p:nvSpPr>
        <p:spPr>
          <a:xfrm rot="18988055">
            <a:off x="15262400" y="6457233"/>
            <a:ext cx="7658100" cy="1878865"/>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txBody>
          <a:bodyPr/>
          <a:lstStyle/>
          <a:p>
            <a:endParaRPr lang="en-US" dirty="0"/>
          </a:p>
        </p:txBody>
      </p:sp>
      <p:sp>
        <p:nvSpPr>
          <p:cNvPr id="15" name="Freeform 3">
            <a:extLst>
              <a:ext uri="{FF2B5EF4-FFF2-40B4-BE49-F238E27FC236}">
                <a16:creationId xmlns:a16="http://schemas.microsoft.com/office/drawing/2014/main" id="{65DF7D94-C9C7-7239-FEF2-3C442372E200}"/>
              </a:ext>
            </a:extLst>
          </p:cNvPr>
          <p:cNvSpPr/>
          <p:nvPr/>
        </p:nvSpPr>
        <p:spPr>
          <a:xfrm rot="14208559">
            <a:off x="10822492" y="-1164009"/>
            <a:ext cx="5343240" cy="1878865"/>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chemeClr val="accent2">
              <a:lumMod val="60000"/>
              <a:lumOff val="40000"/>
            </a:schemeClr>
          </a:solidFill>
        </p:spPr>
        <p:txBody>
          <a:bodyPr/>
          <a:lstStyle/>
          <a:p>
            <a:endParaRPr lang="en-US" dirty="0"/>
          </a:p>
        </p:txBody>
      </p:sp>
      <p:sp>
        <p:nvSpPr>
          <p:cNvPr id="16" name="Freeform 3">
            <a:extLst>
              <a:ext uri="{FF2B5EF4-FFF2-40B4-BE49-F238E27FC236}">
                <a16:creationId xmlns:a16="http://schemas.microsoft.com/office/drawing/2014/main" id="{39203F9A-4EC2-6479-E7D1-1BE988884780}"/>
              </a:ext>
            </a:extLst>
          </p:cNvPr>
          <p:cNvSpPr/>
          <p:nvPr/>
        </p:nvSpPr>
        <p:spPr>
          <a:xfrm rot="14208559">
            <a:off x="13289446" y="-1761225"/>
            <a:ext cx="5343240" cy="1878865"/>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chemeClr val="accent2">
              <a:lumMod val="75000"/>
            </a:schemeClr>
          </a:solidFill>
        </p:spPr>
        <p:txBody>
          <a:bodyPr/>
          <a:lstStyle/>
          <a:p>
            <a:endParaRPr lang="en-US" dirty="0"/>
          </a:p>
        </p:txBody>
      </p:sp>
      <p:grpSp>
        <p:nvGrpSpPr>
          <p:cNvPr id="17" name="Group 8">
            <a:extLst>
              <a:ext uri="{FF2B5EF4-FFF2-40B4-BE49-F238E27FC236}">
                <a16:creationId xmlns:a16="http://schemas.microsoft.com/office/drawing/2014/main" id="{D307738D-5143-A2D3-DDDB-80891E8C5E10}"/>
              </a:ext>
            </a:extLst>
          </p:cNvPr>
          <p:cNvGrpSpPr/>
          <p:nvPr/>
        </p:nvGrpSpPr>
        <p:grpSpPr>
          <a:xfrm rot="-3503507">
            <a:off x="3560943" y="-1473992"/>
            <a:ext cx="5068421" cy="1710448"/>
            <a:chOff x="0" y="0"/>
            <a:chExt cx="1334893" cy="450488"/>
          </a:xfrm>
        </p:grpSpPr>
        <p:sp>
          <p:nvSpPr>
            <p:cNvPr id="18" name="Freeform 9">
              <a:extLst>
                <a:ext uri="{FF2B5EF4-FFF2-40B4-BE49-F238E27FC236}">
                  <a16:creationId xmlns:a16="http://schemas.microsoft.com/office/drawing/2014/main" id="{AF774708-1D98-6227-C1DE-372C22092F2D}"/>
                </a:ext>
              </a:extLst>
            </p:cNvPr>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9" name="TextBox 10">
              <a:extLst>
                <a:ext uri="{FF2B5EF4-FFF2-40B4-BE49-F238E27FC236}">
                  <a16:creationId xmlns:a16="http://schemas.microsoft.com/office/drawing/2014/main" id="{EB51C49E-5A59-087A-24A1-103EC9316A19}"/>
                </a:ext>
              </a:extLst>
            </p:cNvPr>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sp>
        <p:nvSpPr>
          <p:cNvPr id="3" name="Rectangle 2">
            <a:extLst>
              <a:ext uri="{FF2B5EF4-FFF2-40B4-BE49-F238E27FC236}">
                <a16:creationId xmlns:a16="http://schemas.microsoft.com/office/drawing/2014/main" id="{F318BF17-3EA4-980F-F8CB-98A82F461995}"/>
              </a:ext>
            </a:extLst>
          </p:cNvPr>
          <p:cNvSpPr/>
          <p:nvPr/>
        </p:nvSpPr>
        <p:spPr>
          <a:xfrm>
            <a:off x="107403" y="6116393"/>
            <a:ext cx="10266465" cy="923330"/>
          </a:xfrm>
          <a:prstGeom prst="rect">
            <a:avLst/>
          </a:prstGeom>
          <a:noFill/>
        </p:spPr>
        <p:txBody>
          <a:bodyPr wrap="square" lIns="91440" tIns="45720" rIns="91440" bIns="45720">
            <a:spAutoFit/>
          </a:bodyPr>
          <a:lstStyle/>
          <a:p>
            <a:pPr marL="685800" indent="-685800">
              <a:buFont typeface="Arial" panose="020B0604020202020204" pitchFamily="34" charset="0"/>
              <a:buChar char="•"/>
            </a:pPr>
            <a:r>
              <a:rPr lang="en-US" sz="5400" dirty="0">
                <a:hlinkClick r:id="rId3"/>
              </a:rPr>
              <a:t>Dataset – Catalog</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43498813"/>
      </p:ext>
    </p:extLst>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ppt_x"/>
                                          </p:val>
                                        </p:tav>
                                        <p:tav tm="100000">
                                          <p:val>
                                            <p:strVal val="#ppt_x"/>
                                          </p:val>
                                        </p:tav>
                                      </p:tavLst>
                                    </p:anim>
                                    <p:anim calcmode="lin" valueType="num">
                                      <p:cBhvr additive="base">
                                        <p:cTn id="13" dur="500" fill="hold"/>
                                        <p:tgtEl>
                                          <p:spTgt spid="17"/>
                                        </p:tgtEl>
                                        <p:attrNameLst>
                                          <p:attrName>ppt_y</p:attrName>
                                        </p:attrNameLst>
                                      </p:cBhvr>
                                      <p:tavLst>
                                        <p:tav tm="0">
                                          <p:val>
                                            <p:strVal val="0-#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par>
                                <p:cTn id="18" presetID="22" presetClass="entr" presetSubtype="8"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par>
                                <p:cTn id="28" presetID="2" presetClass="entr" presetSubtype="1" fill="hold" grpId="0" nodeType="withEffect">
                                  <p:stCondLst>
                                    <p:cond delay="25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0-#ppt_h/2"/>
                                          </p:val>
                                        </p:tav>
                                        <p:tav tm="100000">
                                          <p:val>
                                            <p:strVal val="#ppt_y"/>
                                          </p:val>
                                        </p:tav>
                                      </p:tavLst>
                                    </p:anim>
                                  </p:childTnLst>
                                </p:cTn>
                              </p:par>
                              <p:par>
                                <p:cTn id="32" presetID="2" presetClass="entr" presetSubtype="1" fill="hold" grpId="0" nodeType="withEffect">
                                  <p:stCondLst>
                                    <p:cond delay="75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0-#ppt_h/2"/>
                                          </p:val>
                                        </p:tav>
                                        <p:tav tm="100000">
                                          <p:val>
                                            <p:strVal val="#ppt_y"/>
                                          </p:val>
                                        </p:tav>
                                      </p:tavLst>
                                    </p:anim>
                                  </p:childTnLst>
                                </p:cTn>
                              </p:par>
                              <p:par>
                                <p:cTn id="36" presetID="2" presetClass="entr" presetSubtype="4" fill="hold" grpId="0" nodeType="withEffect">
                                  <p:stCondLst>
                                    <p:cond delay="250"/>
                                  </p:stCondLst>
                                  <p:childTnLst>
                                    <p:set>
                                      <p:cBhvr>
                                        <p:cTn id="37" dur="1" fill="hold">
                                          <p:stCondLst>
                                            <p:cond delay="0"/>
                                          </p:stCondLst>
                                        </p:cTn>
                                        <p:tgtEl>
                                          <p:spTgt spid="4"/>
                                        </p:tgtEl>
                                        <p:attrNameLst>
                                          <p:attrName>style.visibility</p:attrName>
                                        </p:attrNameLst>
                                      </p:cBhvr>
                                      <p:to>
                                        <p:strVal val="visible"/>
                                      </p:to>
                                    </p:set>
                                    <p:anim calcmode="lin" valueType="num">
                                      <p:cBhvr additive="base">
                                        <p:cTn id="38" dur="500" fill="hold"/>
                                        <p:tgtEl>
                                          <p:spTgt spid="4"/>
                                        </p:tgtEl>
                                        <p:attrNameLst>
                                          <p:attrName>ppt_x</p:attrName>
                                        </p:attrNameLst>
                                      </p:cBhvr>
                                      <p:tavLst>
                                        <p:tav tm="0">
                                          <p:val>
                                            <p:strVal val="#ppt_x"/>
                                          </p:val>
                                        </p:tav>
                                        <p:tav tm="100000">
                                          <p:val>
                                            <p:strVal val="#ppt_x"/>
                                          </p:val>
                                        </p:tav>
                                      </p:tavLst>
                                    </p:anim>
                                    <p:anim calcmode="lin" valueType="num">
                                      <p:cBhvr additive="base">
                                        <p:cTn id="39" dur="500" fill="hold"/>
                                        <p:tgtEl>
                                          <p:spTgt spid="4"/>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75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ppt_x"/>
                                          </p:val>
                                        </p:tav>
                                        <p:tav tm="100000">
                                          <p:val>
                                            <p:strVal val="#ppt_x"/>
                                          </p:val>
                                        </p:tav>
                                      </p:tavLst>
                                    </p:anim>
                                    <p:anim calcmode="lin" valueType="num">
                                      <p:cBhvr additive="base">
                                        <p:cTn id="43" dur="500" fill="hold"/>
                                        <p:tgtEl>
                                          <p:spTgt spid="14"/>
                                        </p:tgtEl>
                                        <p:attrNameLst>
                                          <p:attrName>ppt_y</p:attrName>
                                        </p:attrNameLst>
                                      </p:cBhvr>
                                      <p:tavLst>
                                        <p:tav tm="0">
                                          <p:val>
                                            <p:strVal val="1+#ppt_h/2"/>
                                          </p:val>
                                        </p:tav>
                                        <p:tav tm="100000">
                                          <p:val>
                                            <p:strVal val="#ppt_y"/>
                                          </p:val>
                                        </p:tav>
                                      </p:tavLst>
                                    </p:anim>
                                  </p:childTnLst>
                                </p:cTn>
                              </p:par>
                            </p:childTnLst>
                          </p:cTn>
                        </p:par>
                        <p:par>
                          <p:cTn id="44" fill="hold">
                            <p:stCondLst>
                              <p:cond delay="2250"/>
                            </p:stCondLst>
                            <p:childTnLst>
                              <p:par>
                                <p:cTn id="45" presetID="10" presetClass="entr" presetSubtype="0" fill="hold" grpId="0" nodeType="after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P spid="13" grpId="0"/>
      <p:bldP spid="4" grpId="0" animBg="1"/>
      <p:bldP spid="14" grpId="0" animBg="1"/>
      <p:bldP spid="15" grpId="0" animBg="1"/>
      <p:bldP spid="16"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982200" y="0"/>
            <a:ext cx="8305800" cy="10287000"/>
            <a:chOff x="0" y="0"/>
            <a:chExt cx="638656" cy="651475"/>
          </a:xfrm>
        </p:grpSpPr>
        <p:sp>
          <p:nvSpPr>
            <p:cNvPr id="3" name="Freeform 3"/>
            <p:cNvSpPr/>
            <p:nvPr/>
          </p:nvSpPr>
          <p:spPr>
            <a:xfrm>
              <a:off x="0" y="0"/>
              <a:ext cx="638656" cy="651475"/>
            </a:xfrm>
            <a:custGeom>
              <a:avLst/>
              <a:gdLst/>
              <a:ahLst/>
              <a:cxnLst/>
              <a:rect l="l" t="t" r="r" b="b"/>
              <a:pathLst>
                <a:path w="638656" h="651475">
                  <a:moveTo>
                    <a:pt x="0" y="0"/>
                  </a:moveTo>
                  <a:lnTo>
                    <a:pt x="638656" y="0"/>
                  </a:lnTo>
                  <a:lnTo>
                    <a:pt x="638656" y="651475"/>
                  </a:lnTo>
                  <a:lnTo>
                    <a:pt x="0" y="651475"/>
                  </a:lnTo>
                  <a:close/>
                </a:path>
              </a:pathLst>
            </a:custGeom>
            <a:blipFill>
              <a:blip r:embed="rId2"/>
              <a:stretch>
                <a:fillRect l="-26553" r="-26553"/>
              </a:stretch>
            </a:blipFill>
          </p:spPr>
          <p:txBody>
            <a:bodyPr/>
            <a:lstStyle/>
            <a:p>
              <a:endParaRPr lang="en-US"/>
            </a:p>
          </p:txBody>
        </p:sp>
      </p:grpSp>
      <p:sp>
        <p:nvSpPr>
          <p:cNvPr id="7" name="AutoShape 7"/>
          <p:cNvSpPr/>
          <p:nvPr/>
        </p:nvSpPr>
        <p:spPr>
          <a:xfrm>
            <a:off x="-1851927" y="2356488"/>
            <a:ext cx="8918179" cy="19050"/>
          </a:xfrm>
          <a:prstGeom prst="line">
            <a:avLst/>
          </a:prstGeom>
          <a:ln w="28575" cap="flat">
            <a:solidFill>
              <a:srgbClr val="000000"/>
            </a:solidFill>
            <a:prstDash val="solid"/>
            <a:headEnd type="none" w="sm" len="sm"/>
            <a:tailEnd type="none" w="sm" len="sm"/>
          </a:ln>
        </p:spPr>
        <p:txBody>
          <a:bodyPr/>
          <a:lstStyle/>
          <a:p>
            <a:endParaRPr lang="en-US"/>
          </a:p>
        </p:txBody>
      </p:sp>
      <p:sp>
        <p:nvSpPr>
          <p:cNvPr id="8" name="TextBox 8"/>
          <p:cNvSpPr txBox="1"/>
          <p:nvPr/>
        </p:nvSpPr>
        <p:spPr>
          <a:xfrm>
            <a:off x="236470" y="1344046"/>
            <a:ext cx="3190062" cy="823687"/>
          </a:xfrm>
          <a:prstGeom prst="rect">
            <a:avLst/>
          </a:prstGeom>
        </p:spPr>
        <p:txBody>
          <a:bodyPr wrap="square" lIns="0" tIns="0" rIns="0" bIns="0" rtlCol="0" anchor="t">
            <a:spAutoFit/>
          </a:bodyPr>
          <a:lstStyle/>
          <a:p>
            <a:pPr algn="l">
              <a:lnSpc>
                <a:spcPts val="6100"/>
              </a:lnSpc>
            </a:pPr>
            <a:r>
              <a:rPr lang="en-US" sz="6600" b="1" dirty="0">
                <a:solidFill>
                  <a:srgbClr val="000000"/>
                </a:solidFill>
                <a:latin typeface="Poppins Bold"/>
                <a:ea typeface="Poppins Bold"/>
                <a:cs typeface="Poppins Bold"/>
                <a:sym typeface="Poppins Bold"/>
              </a:rPr>
              <a:t>Project </a:t>
            </a:r>
          </a:p>
        </p:txBody>
      </p:sp>
      <p:sp>
        <p:nvSpPr>
          <p:cNvPr id="9" name="TextBox 9"/>
          <p:cNvSpPr txBox="1"/>
          <p:nvPr/>
        </p:nvSpPr>
        <p:spPr>
          <a:xfrm>
            <a:off x="3457012" y="1300189"/>
            <a:ext cx="3723656" cy="911403"/>
          </a:xfrm>
          <a:prstGeom prst="rect">
            <a:avLst/>
          </a:prstGeom>
        </p:spPr>
        <p:txBody>
          <a:bodyPr lIns="0" tIns="0" rIns="0" bIns="0" rtlCol="0" anchor="t">
            <a:spAutoFit/>
          </a:bodyPr>
          <a:lstStyle/>
          <a:p>
            <a:pPr algn="l">
              <a:lnSpc>
                <a:spcPts val="6900"/>
              </a:lnSpc>
            </a:pPr>
            <a:r>
              <a:rPr lang="en-US" sz="6900" b="1" dirty="0">
                <a:solidFill>
                  <a:srgbClr val="8D0000"/>
                </a:solidFill>
                <a:latin typeface="Poppins Bold"/>
                <a:ea typeface="Poppins Bold"/>
                <a:cs typeface="Poppins Bold"/>
                <a:sym typeface="Poppins Bold"/>
              </a:rPr>
              <a:t>KPIs</a:t>
            </a:r>
          </a:p>
        </p:txBody>
      </p:sp>
      <p:sp>
        <p:nvSpPr>
          <p:cNvPr id="10" name="TextBox 10"/>
          <p:cNvSpPr txBox="1"/>
          <p:nvPr/>
        </p:nvSpPr>
        <p:spPr>
          <a:xfrm>
            <a:off x="-190813" y="2603361"/>
            <a:ext cx="9591113" cy="6376233"/>
          </a:xfrm>
          <a:prstGeom prst="rect">
            <a:avLst/>
          </a:prstGeom>
        </p:spPr>
        <p:txBody>
          <a:bodyPr wrap="square" lIns="0" tIns="0" rIns="0" bIns="0" rtlCol="0" anchor="t">
            <a:spAutoFit/>
          </a:bodyPr>
          <a:lstStyle/>
          <a:p>
            <a:pPr marL="496567" lvl="1" indent="-248284">
              <a:lnSpc>
                <a:spcPts val="3104"/>
              </a:lnSpc>
              <a:buFont typeface="Arial"/>
              <a:buChar char="•"/>
            </a:pPr>
            <a:r>
              <a:rPr lang="en-US" sz="3200" spc="71" dirty="0">
                <a:latin typeface="Poppins"/>
                <a:ea typeface="Poppins"/>
                <a:cs typeface="Poppins"/>
                <a:sym typeface="Poppins"/>
              </a:rPr>
              <a:t>Total Vehicles Sold = COUNT(DOL Vehicle ID): Showing Number of cars sold</a:t>
            </a:r>
          </a:p>
          <a:p>
            <a:pPr marL="496567" lvl="1" indent="-248284">
              <a:lnSpc>
                <a:spcPts val="3104"/>
              </a:lnSpc>
              <a:buFont typeface="Arial"/>
              <a:buChar char="•"/>
            </a:pPr>
            <a:endParaRPr lang="en-US" sz="3200" spc="71" dirty="0">
              <a:latin typeface="Poppins"/>
              <a:ea typeface="Poppins"/>
              <a:cs typeface="Poppins"/>
              <a:sym typeface="Poppins"/>
            </a:endParaRPr>
          </a:p>
          <a:p>
            <a:pPr marL="496567" lvl="1" indent="-248284">
              <a:lnSpc>
                <a:spcPts val="3104"/>
              </a:lnSpc>
              <a:buFont typeface="Arial"/>
              <a:buChar char="•"/>
            </a:pPr>
            <a:r>
              <a:rPr lang="en-US" sz="3200" spc="71" dirty="0">
                <a:latin typeface="Poppins"/>
                <a:ea typeface="Poppins"/>
                <a:cs typeface="Poppins"/>
                <a:sym typeface="Poppins"/>
              </a:rPr>
              <a:t>Total Sales Value (Revenue) = SUM(Base MSRP) :</a:t>
            </a:r>
            <a:br>
              <a:rPr lang="en-US" sz="3200" spc="71" dirty="0">
                <a:latin typeface="Poppins"/>
                <a:ea typeface="Poppins"/>
                <a:cs typeface="Poppins"/>
                <a:sym typeface="Poppins"/>
              </a:rPr>
            </a:br>
            <a:r>
              <a:rPr lang="en-US" sz="3200" spc="71" dirty="0">
                <a:latin typeface="Poppins"/>
                <a:ea typeface="Poppins"/>
                <a:cs typeface="Poppins"/>
                <a:sym typeface="Poppins"/>
              </a:rPr>
              <a:t>Showing Total sales based on retailer suggestion</a:t>
            </a:r>
          </a:p>
          <a:p>
            <a:pPr marL="496567" lvl="1" indent="-248284">
              <a:lnSpc>
                <a:spcPts val="3104"/>
              </a:lnSpc>
              <a:buFont typeface="Arial"/>
              <a:buChar char="•"/>
            </a:pPr>
            <a:endParaRPr lang="en-US" sz="3200" spc="71" dirty="0">
              <a:latin typeface="Poppins"/>
              <a:ea typeface="Poppins"/>
              <a:cs typeface="Poppins"/>
              <a:sym typeface="Poppins"/>
            </a:endParaRPr>
          </a:p>
          <a:p>
            <a:pPr marL="496567" lvl="1" indent="-248284">
              <a:lnSpc>
                <a:spcPts val="3104"/>
              </a:lnSpc>
              <a:buFont typeface="Arial"/>
              <a:buChar char="•"/>
            </a:pPr>
            <a:r>
              <a:rPr lang="en-US" sz="3200" spc="71" dirty="0">
                <a:latin typeface="Poppins"/>
                <a:ea typeface="Poppins"/>
                <a:cs typeface="Poppins"/>
                <a:sym typeface="Poppins"/>
              </a:rPr>
              <a:t>Average Sale Price = AVERAGE(Base MSRP) :</a:t>
            </a:r>
            <a:br>
              <a:rPr lang="en-US" sz="3200" spc="71" dirty="0">
                <a:latin typeface="Poppins"/>
                <a:ea typeface="Poppins"/>
                <a:cs typeface="Poppins"/>
                <a:sym typeface="Poppins"/>
              </a:rPr>
            </a:br>
            <a:r>
              <a:rPr lang="en-US" sz="3200" spc="71" dirty="0">
                <a:latin typeface="Poppins"/>
                <a:ea typeface="Poppins"/>
                <a:cs typeface="Poppins"/>
                <a:sym typeface="Poppins"/>
              </a:rPr>
              <a:t>showing Average Total Sales</a:t>
            </a:r>
          </a:p>
          <a:p>
            <a:pPr marL="496567" lvl="1" indent="-248284">
              <a:lnSpc>
                <a:spcPts val="3104"/>
              </a:lnSpc>
              <a:buFont typeface="Arial"/>
              <a:buChar char="•"/>
            </a:pPr>
            <a:endParaRPr lang="en-US" sz="3200" spc="71" dirty="0">
              <a:latin typeface="Poppins"/>
              <a:ea typeface="Poppins"/>
              <a:cs typeface="Poppins"/>
              <a:sym typeface="Poppins"/>
            </a:endParaRPr>
          </a:p>
          <a:p>
            <a:pPr marL="496567" lvl="1" indent="-248284">
              <a:lnSpc>
                <a:spcPts val="3104"/>
              </a:lnSpc>
              <a:buFont typeface="Arial"/>
              <a:buChar char="•"/>
            </a:pPr>
            <a:r>
              <a:rPr lang="en-US" sz="3200" spc="71" dirty="0">
                <a:latin typeface="Poppins"/>
                <a:ea typeface="Poppins"/>
                <a:cs typeface="Poppins"/>
                <a:sym typeface="Poppins"/>
              </a:rPr>
              <a:t>Sales by Model = COUNT(DOL Vehicle ID) GROUP BY Model :</a:t>
            </a:r>
            <a:br>
              <a:rPr lang="en-US" sz="3200" spc="71" dirty="0">
                <a:latin typeface="Poppins"/>
                <a:ea typeface="Poppins"/>
                <a:cs typeface="Poppins"/>
                <a:sym typeface="Poppins"/>
              </a:rPr>
            </a:br>
            <a:r>
              <a:rPr lang="en-US" sz="3200" spc="71" dirty="0">
                <a:latin typeface="Poppins"/>
                <a:ea typeface="Poppins"/>
                <a:cs typeface="Poppins"/>
                <a:sym typeface="Poppins"/>
              </a:rPr>
              <a:t>Showing Number of car Model sold for each Company</a:t>
            </a:r>
            <a:endParaRPr lang="en-US" sz="3200" u="none" spc="71" dirty="0">
              <a:latin typeface="Poppins"/>
              <a:ea typeface="Poppins"/>
              <a:cs typeface="Poppins"/>
              <a:sym typeface="Poppins"/>
            </a:endParaRPr>
          </a:p>
        </p:txBody>
      </p:sp>
      <p:grpSp>
        <p:nvGrpSpPr>
          <p:cNvPr id="11" name="Group 5">
            <a:extLst>
              <a:ext uri="{FF2B5EF4-FFF2-40B4-BE49-F238E27FC236}">
                <a16:creationId xmlns:a16="http://schemas.microsoft.com/office/drawing/2014/main" id="{A12DCE01-90D6-093A-04DC-380CADB36ECD}"/>
              </a:ext>
            </a:extLst>
          </p:cNvPr>
          <p:cNvGrpSpPr/>
          <p:nvPr/>
        </p:nvGrpSpPr>
        <p:grpSpPr>
          <a:xfrm rot="-3503507">
            <a:off x="5654604" y="9945827"/>
            <a:ext cx="3914367" cy="1710448"/>
            <a:chOff x="0" y="0"/>
            <a:chExt cx="1334893" cy="450488"/>
          </a:xfrm>
        </p:grpSpPr>
        <p:sp>
          <p:nvSpPr>
            <p:cNvPr id="12" name="Freeform 6">
              <a:extLst>
                <a:ext uri="{FF2B5EF4-FFF2-40B4-BE49-F238E27FC236}">
                  <a16:creationId xmlns:a16="http://schemas.microsoft.com/office/drawing/2014/main" id="{F056CDE1-0C40-A77A-2C19-899D18831364}"/>
                </a:ext>
              </a:extLst>
            </p:cNvPr>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3" name="TextBox 7">
              <a:extLst>
                <a:ext uri="{FF2B5EF4-FFF2-40B4-BE49-F238E27FC236}">
                  <a16:creationId xmlns:a16="http://schemas.microsoft.com/office/drawing/2014/main" id="{3D8F2964-7B5D-09E1-4948-90DACB654032}"/>
                </a:ext>
              </a:extLst>
            </p:cNvPr>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grpSp>
        <p:nvGrpSpPr>
          <p:cNvPr id="14" name="Group 8">
            <a:extLst>
              <a:ext uri="{FF2B5EF4-FFF2-40B4-BE49-F238E27FC236}">
                <a16:creationId xmlns:a16="http://schemas.microsoft.com/office/drawing/2014/main" id="{DADC3EC0-B444-B9D0-425D-34FDEFBD15EC}"/>
              </a:ext>
            </a:extLst>
          </p:cNvPr>
          <p:cNvGrpSpPr/>
          <p:nvPr/>
        </p:nvGrpSpPr>
        <p:grpSpPr>
          <a:xfrm rot="-3503507">
            <a:off x="1093267" y="-2109507"/>
            <a:ext cx="4667686" cy="1710448"/>
            <a:chOff x="0" y="0"/>
            <a:chExt cx="1334893" cy="450488"/>
          </a:xfrm>
        </p:grpSpPr>
        <p:sp>
          <p:nvSpPr>
            <p:cNvPr id="15" name="Freeform 9">
              <a:extLst>
                <a:ext uri="{FF2B5EF4-FFF2-40B4-BE49-F238E27FC236}">
                  <a16:creationId xmlns:a16="http://schemas.microsoft.com/office/drawing/2014/main" id="{D6C66628-EFDA-1CFF-6DD9-519A6317AF98}"/>
                </a:ext>
              </a:extLst>
            </p:cNvPr>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6" name="TextBox 10">
              <a:extLst>
                <a:ext uri="{FF2B5EF4-FFF2-40B4-BE49-F238E27FC236}">
                  <a16:creationId xmlns:a16="http://schemas.microsoft.com/office/drawing/2014/main" id="{785020B5-1570-0FB1-C3B6-C508E886A398}"/>
                </a:ext>
              </a:extLst>
            </p:cNvPr>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ppt_x"/>
                                          </p:val>
                                        </p:tav>
                                        <p:tav tm="100000">
                                          <p:val>
                                            <p:strVal val="#ppt_x"/>
                                          </p:val>
                                        </p:tav>
                                      </p:tavLst>
                                    </p:anim>
                                    <p:anim calcmode="lin" valueType="num">
                                      <p:cBhvr additive="base">
                                        <p:cTn id="8" dur="75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750" fill="hold"/>
                                        <p:tgtEl>
                                          <p:spTgt spid="11"/>
                                        </p:tgtEl>
                                        <p:attrNameLst>
                                          <p:attrName>ppt_x</p:attrName>
                                        </p:attrNameLst>
                                      </p:cBhvr>
                                      <p:tavLst>
                                        <p:tav tm="0">
                                          <p:val>
                                            <p:strVal val="#ppt_x"/>
                                          </p:val>
                                        </p:tav>
                                        <p:tav tm="100000">
                                          <p:val>
                                            <p:strVal val="#ppt_x"/>
                                          </p:val>
                                        </p:tav>
                                      </p:tavLst>
                                    </p:anim>
                                    <p:anim calcmode="lin" valueType="num">
                                      <p:cBhvr additive="base">
                                        <p:cTn id="12" dur="750" fill="hold"/>
                                        <p:tgtEl>
                                          <p:spTgt spid="11"/>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500"/>
                                        <p:tgtEl>
                                          <p:spTgt spid="8">
                                            <p:txEl>
                                              <p:pRg st="0" end="0"/>
                                            </p:txEl>
                                          </p:spTgt>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22" presetClass="entr" presetSubtype="8"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par>
                                <p:cTn id="22" presetID="2" presetClass="entr" presetSubtype="2" fill="hold" nodeType="withEffect">
                                  <p:stCondLst>
                                    <p:cond delay="50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1000" fill="hold"/>
                                        <p:tgtEl>
                                          <p:spTgt spid="2"/>
                                        </p:tgtEl>
                                        <p:attrNameLst>
                                          <p:attrName>ppt_x</p:attrName>
                                        </p:attrNameLst>
                                      </p:cBhvr>
                                      <p:tavLst>
                                        <p:tav tm="0">
                                          <p:val>
                                            <p:strVal val="1+#ppt_w/2"/>
                                          </p:val>
                                        </p:tav>
                                        <p:tav tm="100000">
                                          <p:val>
                                            <p:strVal val="#ppt_x"/>
                                          </p:val>
                                        </p:tav>
                                      </p:tavLst>
                                    </p:anim>
                                    <p:anim calcmode="lin" valueType="num">
                                      <p:cBhvr additive="base">
                                        <p:cTn id="25" dur="1000" fill="hold"/>
                                        <p:tgtEl>
                                          <p:spTgt spid="2"/>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animEffect transition="in" filter="fade">
                                      <p:cBhvr>
                                        <p:cTn id="29" dur="500"/>
                                        <p:tgtEl>
                                          <p:spTgt spid="10">
                                            <p:txEl>
                                              <p:pRg st="0" end="0"/>
                                            </p:txEl>
                                          </p:spTgt>
                                        </p:tgtEl>
                                      </p:cBhvr>
                                    </p:animEffect>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0">
                                            <p:txEl>
                                              <p:pRg st="2" end="2"/>
                                            </p:txEl>
                                          </p:spTgt>
                                        </p:tgtEl>
                                        <p:attrNameLst>
                                          <p:attrName>style.visibility</p:attrName>
                                        </p:attrNameLst>
                                      </p:cBhvr>
                                      <p:to>
                                        <p:strVal val="visible"/>
                                      </p:to>
                                    </p:set>
                                    <p:animEffect transition="in" filter="fade">
                                      <p:cBhvr>
                                        <p:cTn id="33" dur="500"/>
                                        <p:tgtEl>
                                          <p:spTgt spid="10">
                                            <p:txEl>
                                              <p:pRg st="2" end="2"/>
                                            </p:txEl>
                                          </p:spTgt>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0">
                                            <p:txEl>
                                              <p:pRg st="4" end="4"/>
                                            </p:txEl>
                                          </p:spTgt>
                                        </p:tgtEl>
                                        <p:attrNameLst>
                                          <p:attrName>style.visibility</p:attrName>
                                        </p:attrNameLst>
                                      </p:cBhvr>
                                      <p:to>
                                        <p:strVal val="visible"/>
                                      </p:to>
                                    </p:set>
                                    <p:animEffect transition="in" filter="fade">
                                      <p:cBhvr>
                                        <p:cTn id="37" dur="500"/>
                                        <p:tgtEl>
                                          <p:spTgt spid="10">
                                            <p:txEl>
                                              <p:pRg st="4" end="4"/>
                                            </p:txEl>
                                          </p:spTgt>
                                        </p:tgtEl>
                                      </p:cBhvr>
                                    </p:animEffect>
                                  </p:childTnLst>
                                </p:cTn>
                              </p:par>
                            </p:childTnLst>
                          </p:cTn>
                        </p:par>
                        <p:par>
                          <p:cTn id="38" fill="hold">
                            <p:stCondLst>
                              <p:cond delay="3000"/>
                            </p:stCondLst>
                            <p:childTnLst>
                              <p:par>
                                <p:cTn id="39" presetID="10" presetClass="entr" presetSubtype="0" fill="hold" grpId="0" nodeType="afterEffect">
                                  <p:stCondLst>
                                    <p:cond delay="0"/>
                                  </p:stCondLst>
                                  <p:childTnLst>
                                    <p:set>
                                      <p:cBhvr>
                                        <p:cTn id="40" dur="1" fill="hold">
                                          <p:stCondLst>
                                            <p:cond delay="0"/>
                                          </p:stCondLst>
                                        </p:cTn>
                                        <p:tgtEl>
                                          <p:spTgt spid="10">
                                            <p:txEl>
                                              <p:pRg st="6" end="6"/>
                                            </p:txEl>
                                          </p:spTgt>
                                        </p:tgtEl>
                                        <p:attrNameLst>
                                          <p:attrName>style.visibility</p:attrName>
                                        </p:attrNameLst>
                                      </p:cBhvr>
                                      <p:to>
                                        <p:strVal val="visible"/>
                                      </p:to>
                                    </p:set>
                                    <p:animEffect transition="in" filter="fade">
                                      <p:cBhvr>
                                        <p:cTn id="41"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allAtOnce"/>
      <p:bldP spid="9"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1143000" y="227677"/>
            <a:ext cx="8069842" cy="964238"/>
          </a:xfrm>
          <a:prstGeom prst="rect">
            <a:avLst/>
          </a:prstGeom>
        </p:spPr>
        <p:txBody>
          <a:bodyPr lIns="0" tIns="0" rIns="0" bIns="0" rtlCol="0" anchor="t">
            <a:spAutoFit/>
          </a:bodyPr>
          <a:lstStyle/>
          <a:p>
            <a:pPr algn="l">
              <a:lnSpc>
                <a:spcPts val="7300"/>
              </a:lnSpc>
            </a:pPr>
            <a:r>
              <a:rPr lang="en-US" sz="7300" b="1" dirty="0">
                <a:latin typeface="Poppins Bold"/>
                <a:ea typeface="Poppins Bold"/>
                <a:cs typeface="Poppins Bold"/>
                <a:sym typeface="Poppins Bold"/>
              </a:rPr>
              <a:t>OUR </a:t>
            </a:r>
            <a:r>
              <a:rPr lang="en-US" sz="7300" b="1" dirty="0">
                <a:solidFill>
                  <a:srgbClr val="8D0000"/>
                </a:solidFill>
                <a:latin typeface="Poppins Bold"/>
                <a:ea typeface="Poppins Bold"/>
                <a:cs typeface="Poppins Bold"/>
                <a:sym typeface="Poppins Bold"/>
              </a:rPr>
              <a:t>KPIs</a:t>
            </a:r>
          </a:p>
        </p:txBody>
      </p:sp>
      <p:sp>
        <p:nvSpPr>
          <p:cNvPr id="13" name="AutoShape 13"/>
          <p:cNvSpPr/>
          <p:nvPr/>
        </p:nvSpPr>
        <p:spPr>
          <a:xfrm>
            <a:off x="-2194212" y="1398911"/>
            <a:ext cx="10602143" cy="0"/>
          </a:xfrm>
          <a:prstGeom prst="line">
            <a:avLst/>
          </a:prstGeom>
          <a:ln w="28575" cap="flat">
            <a:solidFill>
              <a:srgbClr val="000000"/>
            </a:solidFill>
            <a:prstDash val="solid"/>
            <a:headEnd type="none" w="sm" len="sm"/>
            <a:tailEnd type="none" w="sm" len="sm"/>
          </a:ln>
        </p:spPr>
        <p:txBody>
          <a:bodyPr/>
          <a:lstStyle/>
          <a:p>
            <a:endParaRPr lang="en-US"/>
          </a:p>
        </p:txBody>
      </p:sp>
      <p:grpSp>
        <p:nvGrpSpPr>
          <p:cNvPr id="14" name="Group 2">
            <a:extLst>
              <a:ext uri="{FF2B5EF4-FFF2-40B4-BE49-F238E27FC236}">
                <a16:creationId xmlns:a16="http://schemas.microsoft.com/office/drawing/2014/main" id="{F4316E28-C9D6-061D-B4F7-447D54CC5D85}"/>
              </a:ext>
            </a:extLst>
          </p:cNvPr>
          <p:cNvGrpSpPr/>
          <p:nvPr/>
        </p:nvGrpSpPr>
        <p:grpSpPr>
          <a:xfrm rot="18309185">
            <a:off x="17018504" y="171586"/>
            <a:ext cx="7068272" cy="4414551"/>
            <a:chOff x="0" y="0"/>
            <a:chExt cx="2016948" cy="1429209"/>
          </a:xfrm>
        </p:grpSpPr>
        <p:sp>
          <p:nvSpPr>
            <p:cNvPr id="15" name="Freeform 3">
              <a:extLst>
                <a:ext uri="{FF2B5EF4-FFF2-40B4-BE49-F238E27FC236}">
                  <a16:creationId xmlns:a16="http://schemas.microsoft.com/office/drawing/2014/main" id="{6BC6FF41-1DA1-9E98-B353-3A4B6AB678BF}"/>
                </a:ext>
              </a:extLst>
            </p:cNvPr>
            <p:cNvSpPr/>
            <p:nvPr/>
          </p:nvSpPr>
          <p:spPr>
            <a:xfrm>
              <a:off x="0" y="0"/>
              <a:ext cx="2016948" cy="1429209"/>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txBody>
            <a:bodyPr/>
            <a:lstStyle/>
            <a:p>
              <a:endParaRPr lang="en-US"/>
            </a:p>
          </p:txBody>
        </p:sp>
        <p:sp>
          <p:nvSpPr>
            <p:cNvPr id="16" name="TextBox 4">
              <a:extLst>
                <a:ext uri="{FF2B5EF4-FFF2-40B4-BE49-F238E27FC236}">
                  <a16:creationId xmlns:a16="http://schemas.microsoft.com/office/drawing/2014/main" id="{57769C97-594A-B95F-D431-660D52F5E6D7}"/>
                </a:ext>
              </a:extLst>
            </p:cNvPr>
            <p:cNvSpPr txBox="1"/>
            <p:nvPr/>
          </p:nvSpPr>
          <p:spPr>
            <a:xfrm>
              <a:off x="0" y="-333375"/>
              <a:ext cx="2016948" cy="1762584"/>
            </a:xfrm>
            <a:prstGeom prst="rect">
              <a:avLst/>
            </a:prstGeom>
          </p:spPr>
          <p:txBody>
            <a:bodyPr lIns="50800" tIns="50800" rIns="50800" bIns="50800" rtlCol="0" anchor="ctr"/>
            <a:lstStyle/>
            <a:p>
              <a:pPr algn="ctr">
                <a:lnSpc>
                  <a:spcPts val="6249"/>
                </a:lnSpc>
              </a:pPr>
              <a:endParaRPr/>
            </a:p>
          </p:txBody>
        </p:sp>
      </p:grpSp>
      <p:sp>
        <p:nvSpPr>
          <p:cNvPr id="17" name="Rectangle 16">
            <a:extLst>
              <a:ext uri="{FF2B5EF4-FFF2-40B4-BE49-F238E27FC236}">
                <a16:creationId xmlns:a16="http://schemas.microsoft.com/office/drawing/2014/main" id="{3D9387CE-857F-5ABF-C095-D937A2FFFA3B}"/>
              </a:ext>
            </a:extLst>
          </p:cNvPr>
          <p:cNvSpPr/>
          <p:nvPr/>
        </p:nvSpPr>
        <p:spPr>
          <a:xfrm>
            <a:off x="0" y="2171443"/>
            <a:ext cx="17538822" cy="5632311"/>
          </a:xfrm>
          <a:prstGeom prst="rect">
            <a:avLst/>
          </a:prstGeom>
          <a:noFill/>
        </p:spPr>
        <p:txBody>
          <a:bodyPr wrap="square" lIns="91440" tIns="45720" rIns="91440" bIns="45720">
            <a:spAutoFit/>
          </a:bodyPr>
          <a:lstStyle/>
          <a:p>
            <a:pPr marL="571500" indent="-571500" algn="just">
              <a:buFont typeface="Arial" panose="020B0604020202020204" pitchFamily="34" charset="0"/>
              <a:buChar char="•"/>
            </a:pPr>
            <a:r>
              <a:rPr lang="en-US" sz="4000" dirty="0">
                <a:ln w="0"/>
                <a:effectLst>
                  <a:outerShdw blurRad="38100" dist="19050" dir="2700000" algn="tl" rotWithShape="0">
                    <a:schemeClr val="dk1">
                      <a:alpha val="40000"/>
                    </a:schemeClr>
                  </a:outerShdw>
                </a:effectLst>
              </a:rPr>
              <a:t>New vs. Used Vehicle Ratio = COUNT(New Vehicles) ÷ COUNT(Used Vehicles) :</a:t>
            </a:r>
            <a:br>
              <a:rPr lang="en-US" sz="4000" dirty="0">
                <a:ln w="0"/>
                <a:effectLst>
                  <a:outerShdw blurRad="38100" dist="19050" dir="2700000" algn="tl" rotWithShape="0">
                    <a:schemeClr val="dk1">
                      <a:alpha val="40000"/>
                    </a:schemeClr>
                  </a:outerShdw>
                </a:effectLst>
              </a:rPr>
            </a:br>
            <a:r>
              <a:rPr lang="en-US" sz="4000" dirty="0">
                <a:ln w="0"/>
                <a:effectLst>
                  <a:outerShdw blurRad="38100" dist="19050" dir="2700000" algn="tl" rotWithShape="0">
                    <a:schemeClr val="dk1">
                      <a:alpha val="40000"/>
                    </a:schemeClr>
                  </a:outerShdw>
                </a:effectLst>
              </a:rPr>
              <a:t>Showing Used Vs New Cars Ratio </a:t>
            </a:r>
          </a:p>
          <a:p>
            <a:pPr marL="571500" indent="-571500" algn="just">
              <a:buFont typeface="Arial" panose="020B0604020202020204" pitchFamily="34" charset="0"/>
              <a:buChar char="•"/>
            </a:pPr>
            <a:endParaRPr lang="en-US" sz="40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4000" dirty="0">
                <a:ln w="0"/>
                <a:effectLst>
                  <a:outerShdw blurRad="38100" dist="19050" dir="2700000" algn="tl" rotWithShape="0">
                    <a:schemeClr val="dk1">
                      <a:alpha val="40000"/>
                    </a:schemeClr>
                  </a:outerShdw>
                </a:effectLst>
              </a:rPr>
              <a:t>Geographical Sales Distribution = COUNT(DOL Vehicle ID) GROUP BY</a:t>
            </a:r>
          </a:p>
          <a:p>
            <a:pPr algn="just"/>
            <a:r>
              <a:rPr lang="en-US" sz="4000" dirty="0">
                <a:ln w="0"/>
                <a:effectLst>
                  <a:outerShdw blurRad="38100" dist="19050" dir="2700000" algn="tl" rotWithShape="0">
                    <a:schemeClr val="dk1">
                      <a:alpha val="40000"/>
                    </a:schemeClr>
                  </a:outerShdw>
                </a:effectLst>
              </a:rPr>
              <a:t>     City/County/State : </a:t>
            </a:r>
          </a:p>
          <a:p>
            <a:pPr algn="just"/>
            <a:r>
              <a:rPr lang="en-US" sz="4000" dirty="0">
                <a:ln w="0"/>
                <a:effectLst>
                  <a:outerShdw blurRad="38100" dist="19050" dir="2700000" algn="tl" rotWithShape="0">
                    <a:schemeClr val="dk1">
                      <a:alpha val="40000"/>
                    </a:schemeClr>
                  </a:outerShdw>
                </a:effectLst>
              </a:rPr>
              <a:t>	Showing the highest Country/state/city with numbers of done sale transactions</a:t>
            </a:r>
          </a:p>
          <a:p>
            <a:pPr algn="just"/>
            <a:endParaRPr lang="en-US" sz="40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4000" dirty="0">
                <a:ln w="0"/>
                <a:effectLst>
                  <a:outerShdw blurRad="38100" dist="19050" dir="2700000" algn="tl" rotWithShape="0">
                    <a:schemeClr val="dk1">
                      <a:alpha val="40000"/>
                    </a:schemeClr>
                  </a:outerShdw>
                </a:effectLst>
              </a:rPr>
              <a:t>CAFV Eligibility Rate = COUNT(Eligible Vehicles) ÷ COUNT(All Vehicles)</a:t>
            </a:r>
          </a:p>
          <a:p>
            <a:pPr algn="just"/>
            <a:endParaRPr lang="en-US" sz="4000" dirty="0">
              <a:ln w="0"/>
              <a:effectLst>
                <a:outerShdw blurRad="38100" dist="19050" dir="2700000" algn="tl" rotWithShape="0">
                  <a:schemeClr val="dk1">
                    <a:alpha val="40000"/>
                  </a:schemeClr>
                </a:outerShdw>
              </a:effectLst>
            </a:endParaRPr>
          </a:p>
        </p:txBody>
      </p:sp>
      <p:sp>
        <p:nvSpPr>
          <p:cNvPr id="3" name="Freeform 11">
            <a:extLst>
              <a:ext uri="{FF2B5EF4-FFF2-40B4-BE49-F238E27FC236}">
                <a16:creationId xmlns:a16="http://schemas.microsoft.com/office/drawing/2014/main" id="{181CB567-71A7-FDF2-69EE-9035B9E02B28}"/>
              </a:ext>
            </a:extLst>
          </p:cNvPr>
          <p:cNvSpPr/>
          <p:nvPr/>
        </p:nvSpPr>
        <p:spPr>
          <a:xfrm rot="18096493">
            <a:off x="10554411" y="-1778243"/>
            <a:ext cx="5068421" cy="1556974"/>
          </a:xfrm>
          <a:custGeom>
            <a:avLst/>
            <a:gdLst/>
            <a:ahLst/>
            <a:cxnLst/>
            <a:rect l="l" t="t" r="r" b="b"/>
            <a:pathLst>
              <a:path w="1334893" h="410067">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chemeClr val="accent2">
              <a:lumMod val="60000"/>
              <a:lumOff val="40000"/>
            </a:schemeClr>
          </a:solidFill>
        </p:spPr>
        <p:txBody>
          <a:bodyPr/>
          <a:lstStyle/>
          <a:p>
            <a:endParaRPr lang="en-US"/>
          </a:p>
        </p:txBody>
      </p:sp>
      <p:sp>
        <p:nvSpPr>
          <p:cNvPr id="7" name="Freeform 11">
            <a:extLst>
              <a:ext uri="{FF2B5EF4-FFF2-40B4-BE49-F238E27FC236}">
                <a16:creationId xmlns:a16="http://schemas.microsoft.com/office/drawing/2014/main" id="{BF922014-5482-3922-4958-D1DDD04EFB2C}"/>
              </a:ext>
            </a:extLst>
          </p:cNvPr>
          <p:cNvSpPr/>
          <p:nvPr/>
        </p:nvSpPr>
        <p:spPr>
          <a:xfrm rot="18096493">
            <a:off x="13078979" y="-1424263"/>
            <a:ext cx="4841338" cy="1556974"/>
          </a:xfrm>
          <a:custGeom>
            <a:avLst/>
            <a:gdLst/>
            <a:ahLst/>
            <a:cxnLst/>
            <a:rect l="l" t="t" r="r" b="b"/>
            <a:pathLst>
              <a:path w="1334893" h="410067">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chemeClr val="accent2">
              <a:lumMod val="40000"/>
              <a:lumOff val="60000"/>
            </a:schemeClr>
          </a:solidFill>
        </p:spPr>
        <p:txBody>
          <a:bodyPr/>
          <a:lstStyle/>
          <a:p>
            <a:endParaRPr lang="en-US"/>
          </a:p>
        </p:txBody>
      </p:sp>
      <p:sp>
        <p:nvSpPr>
          <p:cNvPr id="18" name="Freeform 11">
            <a:extLst>
              <a:ext uri="{FF2B5EF4-FFF2-40B4-BE49-F238E27FC236}">
                <a16:creationId xmlns:a16="http://schemas.microsoft.com/office/drawing/2014/main" id="{F2947DF2-5306-B712-8D34-888766511211}"/>
              </a:ext>
            </a:extLst>
          </p:cNvPr>
          <p:cNvSpPr/>
          <p:nvPr/>
        </p:nvSpPr>
        <p:spPr>
          <a:xfrm rot="18096493">
            <a:off x="8100257" y="-1965544"/>
            <a:ext cx="5068421" cy="1556974"/>
          </a:xfrm>
          <a:custGeom>
            <a:avLst/>
            <a:gdLst/>
            <a:ahLst/>
            <a:cxnLst/>
            <a:rect l="l" t="t" r="r" b="b"/>
            <a:pathLst>
              <a:path w="1334893" h="410067">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chemeClr val="accent2">
              <a:lumMod val="75000"/>
            </a:schemeClr>
          </a:solidFill>
        </p:spPr>
        <p:txBody>
          <a:bodyPr/>
          <a:lstStyle/>
          <a:p>
            <a:endParaRPr lang="en-US"/>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750"/>
                                        <p:tgtEl>
                                          <p:spTgt spid="18"/>
                                        </p:tgtEl>
                                        <p:attrNameLst>
                                          <p:attrName>ppt_y</p:attrName>
                                        </p:attrNameLst>
                                      </p:cBhvr>
                                      <p:tavLst>
                                        <p:tav tm="0">
                                          <p:val>
                                            <p:strVal val="#ppt_y-#ppt_h*1.125000"/>
                                          </p:val>
                                        </p:tav>
                                        <p:tav tm="100000">
                                          <p:val>
                                            <p:strVal val="#ppt_y"/>
                                          </p:val>
                                        </p:tav>
                                      </p:tavLst>
                                    </p:anim>
                                    <p:animEffect transition="in" filter="wipe(down)">
                                      <p:cBhvr>
                                        <p:cTn id="8" dur="750"/>
                                        <p:tgtEl>
                                          <p:spTgt spid="18"/>
                                        </p:tgtEl>
                                      </p:cBhvr>
                                    </p:animEffect>
                                  </p:childTnLst>
                                </p:cTn>
                              </p:par>
                              <p:par>
                                <p:cTn id="9" presetID="12" presetClass="entr" presetSubtype="1" fill="hold" grpId="0"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750"/>
                                        <p:tgtEl>
                                          <p:spTgt spid="3"/>
                                        </p:tgtEl>
                                        <p:attrNameLst>
                                          <p:attrName>ppt_y</p:attrName>
                                        </p:attrNameLst>
                                      </p:cBhvr>
                                      <p:tavLst>
                                        <p:tav tm="0">
                                          <p:val>
                                            <p:strVal val="#ppt_y-#ppt_h*1.125000"/>
                                          </p:val>
                                        </p:tav>
                                        <p:tav tm="100000">
                                          <p:val>
                                            <p:strVal val="#ppt_y"/>
                                          </p:val>
                                        </p:tav>
                                      </p:tavLst>
                                    </p:anim>
                                    <p:animEffect transition="in" filter="wipe(down)">
                                      <p:cBhvr>
                                        <p:cTn id="12" dur="750"/>
                                        <p:tgtEl>
                                          <p:spTgt spid="3"/>
                                        </p:tgtEl>
                                      </p:cBhvr>
                                    </p:animEffect>
                                  </p:childTnLst>
                                </p:cTn>
                              </p:par>
                              <p:par>
                                <p:cTn id="13" presetID="12" presetClass="entr" presetSubtype="1" fill="hold" grpId="0" nodeType="withEffect">
                                  <p:stCondLst>
                                    <p:cond delay="10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750"/>
                                        <p:tgtEl>
                                          <p:spTgt spid="7"/>
                                        </p:tgtEl>
                                        <p:attrNameLst>
                                          <p:attrName>ppt_y</p:attrName>
                                        </p:attrNameLst>
                                      </p:cBhvr>
                                      <p:tavLst>
                                        <p:tav tm="0">
                                          <p:val>
                                            <p:strVal val="#ppt_y-#ppt_h*1.125000"/>
                                          </p:val>
                                        </p:tav>
                                        <p:tav tm="100000">
                                          <p:val>
                                            <p:strVal val="#ppt_y"/>
                                          </p:val>
                                        </p:tav>
                                      </p:tavLst>
                                    </p:anim>
                                    <p:animEffect transition="in" filter="wipe(down)">
                                      <p:cBhvr>
                                        <p:cTn id="16" dur="750"/>
                                        <p:tgtEl>
                                          <p:spTgt spid="7"/>
                                        </p:tgtEl>
                                      </p:cBhvr>
                                    </p:animEffect>
                                  </p:childTnLst>
                                </p:cTn>
                              </p:par>
                              <p:par>
                                <p:cTn id="17" presetID="12" presetClass="entr" presetSubtype="2" fill="hold" nodeType="withEffect">
                                  <p:stCondLst>
                                    <p:cond delay="10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750"/>
                                        <p:tgtEl>
                                          <p:spTgt spid="14"/>
                                        </p:tgtEl>
                                        <p:attrNameLst>
                                          <p:attrName>ppt_x</p:attrName>
                                        </p:attrNameLst>
                                      </p:cBhvr>
                                      <p:tavLst>
                                        <p:tav tm="0">
                                          <p:val>
                                            <p:strVal val="#ppt_x+#ppt_w*1.125000"/>
                                          </p:val>
                                        </p:tav>
                                        <p:tav tm="100000">
                                          <p:val>
                                            <p:strVal val="#ppt_x"/>
                                          </p:val>
                                        </p:tav>
                                      </p:tavLst>
                                    </p:anim>
                                    <p:animEffect transition="in" filter="wipe(left)">
                                      <p:cBhvr>
                                        <p:cTn id="20" dur="750"/>
                                        <p:tgtEl>
                                          <p:spTgt spid="14"/>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par>
                          <p:cTn id="27" fill="hold">
                            <p:stCondLst>
                              <p:cond delay="1750"/>
                            </p:stCondLst>
                            <p:childTnLst>
                              <p:par>
                                <p:cTn id="28" presetID="10" presetClass="entr" presetSubtype="0" fill="hold" grpId="0" nodeType="afterEffect">
                                  <p:stCondLst>
                                    <p:cond delay="0"/>
                                  </p:stCondLst>
                                  <p:childTnLst>
                                    <p:set>
                                      <p:cBhvr>
                                        <p:cTn id="29" dur="1" fill="hold">
                                          <p:stCondLst>
                                            <p:cond delay="0"/>
                                          </p:stCondLst>
                                        </p:cTn>
                                        <p:tgtEl>
                                          <p:spTgt spid="17">
                                            <p:txEl>
                                              <p:pRg st="0" end="0"/>
                                            </p:txEl>
                                          </p:spTgt>
                                        </p:tgtEl>
                                        <p:attrNameLst>
                                          <p:attrName>style.visibility</p:attrName>
                                        </p:attrNameLst>
                                      </p:cBhvr>
                                      <p:to>
                                        <p:strVal val="visible"/>
                                      </p:to>
                                    </p:set>
                                    <p:animEffect transition="in" filter="fade">
                                      <p:cBhvr>
                                        <p:cTn id="30" dur="500"/>
                                        <p:tgtEl>
                                          <p:spTgt spid="17">
                                            <p:txEl>
                                              <p:pRg st="0" end="0"/>
                                            </p:txEl>
                                          </p:spTgt>
                                        </p:tgtEl>
                                      </p:cBhvr>
                                    </p:animEffect>
                                  </p:childTnLst>
                                </p:cTn>
                              </p:par>
                            </p:childTnLst>
                          </p:cTn>
                        </p:par>
                        <p:par>
                          <p:cTn id="31" fill="hold">
                            <p:stCondLst>
                              <p:cond delay="2250"/>
                            </p:stCondLst>
                            <p:childTnLst>
                              <p:par>
                                <p:cTn id="32" presetID="10" presetClass="entr" presetSubtype="0" fill="hold" grpId="0" nodeType="afterEffect">
                                  <p:stCondLst>
                                    <p:cond delay="0"/>
                                  </p:stCondLst>
                                  <p:childTnLst>
                                    <p:set>
                                      <p:cBhvr>
                                        <p:cTn id="33" dur="1" fill="hold">
                                          <p:stCondLst>
                                            <p:cond delay="0"/>
                                          </p:stCondLst>
                                        </p:cTn>
                                        <p:tgtEl>
                                          <p:spTgt spid="17">
                                            <p:txEl>
                                              <p:pRg st="2" end="2"/>
                                            </p:txEl>
                                          </p:spTgt>
                                        </p:tgtEl>
                                        <p:attrNameLst>
                                          <p:attrName>style.visibility</p:attrName>
                                        </p:attrNameLst>
                                      </p:cBhvr>
                                      <p:to>
                                        <p:strVal val="visible"/>
                                      </p:to>
                                    </p:set>
                                    <p:animEffect transition="in" filter="fade">
                                      <p:cBhvr>
                                        <p:cTn id="34" dur="500"/>
                                        <p:tgtEl>
                                          <p:spTgt spid="17">
                                            <p:txEl>
                                              <p:pRg st="2" end="2"/>
                                            </p:txEl>
                                          </p:spTgt>
                                        </p:tgtEl>
                                      </p:cBhvr>
                                    </p:animEffect>
                                  </p:childTnLst>
                                </p:cTn>
                              </p:par>
                            </p:childTnLst>
                          </p:cTn>
                        </p:par>
                        <p:par>
                          <p:cTn id="35" fill="hold">
                            <p:stCondLst>
                              <p:cond delay="2750"/>
                            </p:stCondLst>
                            <p:childTnLst>
                              <p:par>
                                <p:cTn id="36" presetID="10" presetClass="entr" presetSubtype="0" fill="hold" grpId="0" nodeType="afterEffect">
                                  <p:stCondLst>
                                    <p:cond delay="0"/>
                                  </p:stCondLst>
                                  <p:childTnLst>
                                    <p:set>
                                      <p:cBhvr>
                                        <p:cTn id="37" dur="1" fill="hold">
                                          <p:stCondLst>
                                            <p:cond delay="0"/>
                                          </p:stCondLst>
                                        </p:cTn>
                                        <p:tgtEl>
                                          <p:spTgt spid="17">
                                            <p:txEl>
                                              <p:pRg st="3" end="3"/>
                                            </p:txEl>
                                          </p:spTgt>
                                        </p:tgtEl>
                                        <p:attrNameLst>
                                          <p:attrName>style.visibility</p:attrName>
                                        </p:attrNameLst>
                                      </p:cBhvr>
                                      <p:to>
                                        <p:strVal val="visible"/>
                                      </p:to>
                                    </p:set>
                                    <p:animEffect transition="in" filter="fade">
                                      <p:cBhvr>
                                        <p:cTn id="38" dur="500"/>
                                        <p:tgtEl>
                                          <p:spTgt spid="17">
                                            <p:txEl>
                                              <p:pRg st="3" end="3"/>
                                            </p:txEl>
                                          </p:spTgt>
                                        </p:tgtEl>
                                      </p:cBhvr>
                                    </p:animEffect>
                                  </p:childTnLst>
                                </p:cTn>
                              </p:par>
                            </p:childTnLst>
                          </p:cTn>
                        </p:par>
                        <p:par>
                          <p:cTn id="39" fill="hold">
                            <p:stCondLst>
                              <p:cond delay="3250"/>
                            </p:stCondLst>
                            <p:childTnLst>
                              <p:par>
                                <p:cTn id="40" presetID="10" presetClass="entr" presetSubtype="0" fill="hold" grpId="0" nodeType="afterEffect">
                                  <p:stCondLst>
                                    <p:cond delay="0"/>
                                  </p:stCondLst>
                                  <p:childTnLst>
                                    <p:set>
                                      <p:cBhvr>
                                        <p:cTn id="41" dur="1" fill="hold">
                                          <p:stCondLst>
                                            <p:cond delay="0"/>
                                          </p:stCondLst>
                                        </p:cTn>
                                        <p:tgtEl>
                                          <p:spTgt spid="17">
                                            <p:txEl>
                                              <p:pRg st="4" end="4"/>
                                            </p:txEl>
                                          </p:spTgt>
                                        </p:tgtEl>
                                        <p:attrNameLst>
                                          <p:attrName>style.visibility</p:attrName>
                                        </p:attrNameLst>
                                      </p:cBhvr>
                                      <p:to>
                                        <p:strVal val="visible"/>
                                      </p:to>
                                    </p:set>
                                    <p:animEffect transition="in" filter="fade">
                                      <p:cBhvr>
                                        <p:cTn id="42" dur="500"/>
                                        <p:tgtEl>
                                          <p:spTgt spid="17">
                                            <p:txEl>
                                              <p:pRg st="4" end="4"/>
                                            </p:txEl>
                                          </p:spTgt>
                                        </p:tgtEl>
                                      </p:cBhvr>
                                    </p:animEffect>
                                  </p:childTnLst>
                                </p:cTn>
                              </p:par>
                            </p:childTnLst>
                          </p:cTn>
                        </p:par>
                        <p:par>
                          <p:cTn id="43" fill="hold">
                            <p:stCondLst>
                              <p:cond delay="3750"/>
                            </p:stCondLst>
                            <p:childTnLst>
                              <p:par>
                                <p:cTn id="44" presetID="10" presetClass="entr" presetSubtype="0" fill="hold" grpId="0" nodeType="afterEffect">
                                  <p:stCondLst>
                                    <p:cond delay="0"/>
                                  </p:stCondLst>
                                  <p:childTnLst>
                                    <p:set>
                                      <p:cBhvr>
                                        <p:cTn id="45" dur="1" fill="hold">
                                          <p:stCondLst>
                                            <p:cond delay="0"/>
                                          </p:stCondLst>
                                        </p:cTn>
                                        <p:tgtEl>
                                          <p:spTgt spid="17">
                                            <p:txEl>
                                              <p:pRg st="6" end="6"/>
                                            </p:txEl>
                                          </p:spTgt>
                                        </p:tgtEl>
                                        <p:attrNameLst>
                                          <p:attrName>style.visibility</p:attrName>
                                        </p:attrNameLst>
                                      </p:cBhvr>
                                      <p:to>
                                        <p:strVal val="visible"/>
                                      </p:to>
                                    </p:set>
                                    <p:animEffect transition="in" filter="fade">
                                      <p:cBhvr>
                                        <p:cTn id="46" dur="500"/>
                                        <p:tgtEl>
                                          <p:spTgt spid="1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animBg="1"/>
      <p:bldP spid="17" grpId="0" build="p"/>
      <p:bldP spid="3" grpId="0" animBg="1"/>
      <p:bldP spid="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7DE6-2E00-EDE7-86A5-F338A0BC88A3}"/>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B6A1A83E-8C6E-622B-1BDD-E983ACC6A32A}"/>
              </a:ext>
            </a:extLst>
          </p:cNvPr>
          <p:cNvSpPr txBox="1"/>
          <p:nvPr/>
        </p:nvSpPr>
        <p:spPr>
          <a:xfrm>
            <a:off x="1143000" y="227677"/>
            <a:ext cx="8069842" cy="964238"/>
          </a:xfrm>
          <a:prstGeom prst="rect">
            <a:avLst/>
          </a:prstGeom>
        </p:spPr>
        <p:txBody>
          <a:bodyPr lIns="0" tIns="0" rIns="0" bIns="0" rtlCol="0" anchor="t">
            <a:spAutoFit/>
          </a:bodyPr>
          <a:lstStyle/>
          <a:p>
            <a:pPr algn="l">
              <a:lnSpc>
                <a:spcPts val="7300"/>
              </a:lnSpc>
            </a:pPr>
            <a:r>
              <a:rPr lang="en-US" sz="7300" b="1" dirty="0">
                <a:latin typeface="Poppins Bold"/>
                <a:ea typeface="Poppins Bold"/>
                <a:cs typeface="Poppins Bold"/>
                <a:sym typeface="Poppins Bold"/>
              </a:rPr>
              <a:t>OUR </a:t>
            </a:r>
            <a:r>
              <a:rPr lang="en-US" sz="7300" b="1" dirty="0">
                <a:solidFill>
                  <a:srgbClr val="8D0000"/>
                </a:solidFill>
                <a:latin typeface="Poppins Bold"/>
                <a:ea typeface="Poppins Bold"/>
                <a:cs typeface="Poppins Bold"/>
                <a:sym typeface="Poppins Bold"/>
              </a:rPr>
              <a:t>KPIs</a:t>
            </a:r>
          </a:p>
        </p:txBody>
      </p:sp>
      <p:grpSp>
        <p:nvGrpSpPr>
          <p:cNvPr id="10" name="Group 10">
            <a:extLst>
              <a:ext uri="{FF2B5EF4-FFF2-40B4-BE49-F238E27FC236}">
                <a16:creationId xmlns:a16="http://schemas.microsoft.com/office/drawing/2014/main" id="{3420079D-EB27-C018-6E60-27FAD06C9244}"/>
              </a:ext>
            </a:extLst>
          </p:cNvPr>
          <p:cNvGrpSpPr/>
          <p:nvPr/>
        </p:nvGrpSpPr>
        <p:grpSpPr>
          <a:xfrm rot="-3503507">
            <a:off x="8097196" y="-1761402"/>
            <a:ext cx="5068421" cy="1556974"/>
            <a:chOff x="0" y="0"/>
            <a:chExt cx="1334893" cy="410067"/>
          </a:xfrm>
        </p:grpSpPr>
        <p:sp>
          <p:nvSpPr>
            <p:cNvPr id="11" name="Freeform 11">
              <a:extLst>
                <a:ext uri="{FF2B5EF4-FFF2-40B4-BE49-F238E27FC236}">
                  <a16:creationId xmlns:a16="http://schemas.microsoft.com/office/drawing/2014/main" id="{E6C16DD3-FAA9-172D-9099-31C6A4B764A5}"/>
                </a:ext>
              </a:extLst>
            </p:cNvPr>
            <p:cNvSpPr/>
            <p:nvPr/>
          </p:nvSpPr>
          <p:spPr>
            <a:xfrm>
              <a:off x="0" y="0"/>
              <a:ext cx="1334893" cy="410067"/>
            </a:xfrm>
            <a:custGeom>
              <a:avLst/>
              <a:gdLst/>
              <a:ahLst/>
              <a:cxnLst/>
              <a:rect l="l" t="t" r="r" b="b"/>
              <a:pathLst>
                <a:path w="1334893" h="410067">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2" name="TextBox 12">
              <a:extLst>
                <a:ext uri="{FF2B5EF4-FFF2-40B4-BE49-F238E27FC236}">
                  <a16:creationId xmlns:a16="http://schemas.microsoft.com/office/drawing/2014/main" id="{7193096B-5434-4358-7F4D-00CBEF4584F4}"/>
                </a:ext>
              </a:extLst>
            </p:cNvPr>
            <p:cNvSpPr txBox="1"/>
            <p:nvPr/>
          </p:nvSpPr>
          <p:spPr>
            <a:xfrm>
              <a:off x="0" y="-333375"/>
              <a:ext cx="1334893" cy="743442"/>
            </a:xfrm>
            <a:prstGeom prst="rect">
              <a:avLst/>
            </a:prstGeom>
          </p:spPr>
          <p:txBody>
            <a:bodyPr lIns="50800" tIns="50800" rIns="50800" bIns="50800" rtlCol="0" anchor="ctr"/>
            <a:lstStyle/>
            <a:p>
              <a:pPr algn="ctr">
                <a:lnSpc>
                  <a:spcPts val="6249"/>
                </a:lnSpc>
              </a:pPr>
              <a:endParaRPr/>
            </a:p>
          </p:txBody>
        </p:sp>
      </p:grpSp>
      <p:sp>
        <p:nvSpPr>
          <p:cNvPr id="13" name="AutoShape 13">
            <a:extLst>
              <a:ext uri="{FF2B5EF4-FFF2-40B4-BE49-F238E27FC236}">
                <a16:creationId xmlns:a16="http://schemas.microsoft.com/office/drawing/2014/main" id="{AB619431-D17D-D3E9-F9A1-1D16C6838A9D}"/>
              </a:ext>
            </a:extLst>
          </p:cNvPr>
          <p:cNvSpPr/>
          <p:nvPr/>
        </p:nvSpPr>
        <p:spPr>
          <a:xfrm>
            <a:off x="-2194212" y="1398911"/>
            <a:ext cx="10602143" cy="0"/>
          </a:xfrm>
          <a:prstGeom prst="line">
            <a:avLst/>
          </a:prstGeom>
          <a:ln w="28575" cap="flat">
            <a:solidFill>
              <a:srgbClr val="000000"/>
            </a:solidFill>
            <a:prstDash val="solid"/>
            <a:headEnd type="none" w="sm" len="sm"/>
            <a:tailEnd type="none" w="sm" len="sm"/>
          </a:ln>
        </p:spPr>
        <p:txBody>
          <a:bodyPr/>
          <a:lstStyle/>
          <a:p>
            <a:endParaRPr lang="en-US"/>
          </a:p>
        </p:txBody>
      </p:sp>
      <p:grpSp>
        <p:nvGrpSpPr>
          <p:cNvPr id="14" name="Group 2">
            <a:extLst>
              <a:ext uri="{FF2B5EF4-FFF2-40B4-BE49-F238E27FC236}">
                <a16:creationId xmlns:a16="http://schemas.microsoft.com/office/drawing/2014/main" id="{9821BCD1-0CEB-380C-763B-97FE29A909F6}"/>
              </a:ext>
            </a:extLst>
          </p:cNvPr>
          <p:cNvGrpSpPr/>
          <p:nvPr/>
        </p:nvGrpSpPr>
        <p:grpSpPr>
          <a:xfrm rot="18309185">
            <a:off x="16818668" y="2457849"/>
            <a:ext cx="9168186" cy="4331638"/>
            <a:chOff x="0" y="0"/>
            <a:chExt cx="2016948" cy="1429209"/>
          </a:xfrm>
        </p:grpSpPr>
        <p:sp>
          <p:nvSpPr>
            <p:cNvPr id="15" name="Freeform 3">
              <a:extLst>
                <a:ext uri="{FF2B5EF4-FFF2-40B4-BE49-F238E27FC236}">
                  <a16:creationId xmlns:a16="http://schemas.microsoft.com/office/drawing/2014/main" id="{CB8CF2CD-266D-A542-29E4-A57CC8C37851}"/>
                </a:ext>
              </a:extLst>
            </p:cNvPr>
            <p:cNvSpPr/>
            <p:nvPr/>
          </p:nvSpPr>
          <p:spPr>
            <a:xfrm>
              <a:off x="0" y="0"/>
              <a:ext cx="2016948" cy="1429209"/>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txBody>
            <a:bodyPr/>
            <a:lstStyle/>
            <a:p>
              <a:endParaRPr lang="en-US"/>
            </a:p>
          </p:txBody>
        </p:sp>
        <p:sp>
          <p:nvSpPr>
            <p:cNvPr id="16" name="TextBox 4">
              <a:extLst>
                <a:ext uri="{FF2B5EF4-FFF2-40B4-BE49-F238E27FC236}">
                  <a16:creationId xmlns:a16="http://schemas.microsoft.com/office/drawing/2014/main" id="{AA36B719-F07B-E24D-0A04-77853E3EA932}"/>
                </a:ext>
              </a:extLst>
            </p:cNvPr>
            <p:cNvSpPr txBox="1"/>
            <p:nvPr/>
          </p:nvSpPr>
          <p:spPr>
            <a:xfrm>
              <a:off x="0" y="-333375"/>
              <a:ext cx="2016948" cy="1762584"/>
            </a:xfrm>
            <a:prstGeom prst="rect">
              <a:avLst/>
            </a:prstGeom>
          </p:spPr>
          <p:txBody>
            <a:bodyPr lIns="50800" tIns="50800" rIns="50800" bIns="50800" rtlCol="0" anchor="ctr"/>
            <a:lstStyle/>
            <a:p>
              <a:pPr algn="ctr">
                <a:lnSpc>
                  <a:spcPts val="6249"/>
                </a:lnSpc>
              </a:pPr>
              <a:endParaRPr/>
            </a:p>
          </p:txBody>
        </p:sp>
      </p:grpSp>
      <p:sp>
        <p:nvSpPr>
          <p:cNvPr id="2" name="Rectangle 1">
            <a:extLst>
              <a:ext uri="{FF2B5EF4-FFF2-40B4-BE49-F238E27FC236}">
                <a16:creationId xmlns:a16="http://schemas.microsoft.com/office/drawing/2014/main" id="{D2A055BB-878F-2850-F599-4DAB4E73700B}"/>
              </a:ext>
            </a:extLst>
          </p:cNvPr>
          <p:cNvSpPr/>
          <p:nvPr/>
        </p:nvSpPr>
        <p:spPr>
          <a:xfrm>
            <a:off x="0" y="1558324"/>
            <a:ext cx="18516600" cy="5632311"/>
          </a:xfrm>
          <a:prstGeom prst="rect">
            <a:avLst/>
          </a:prstGeom>
          <a:noFill/>
        </p:spPr>
        <p:txBody>
          <a:bodyPr wrap="square" lIns="91440" tIns="45720" rIns="91440" bIns="45720">
            <a:spAutoFit/>
          </a:bodyPr>
          <a:lstStyle/>
          <a:p>
            <a:pPr algn="just"/>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Sales Trend Over Time = SUM(SALES) GROUP BY Month/Year(Sale Date)</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Average Odometer Reading (Used Vehicles) = AVERAGE(Odometer Reading)</a:t>
            </a:r>
          </a:p>
          <a:p>
            <a:pPr algn="just"/>
            <a:r>
              <a:rPr lang="en-US" sz="3600" dirty="0">
                <a:ln w="0"/>
                <a:effectLst>
                  <a:outerShdw blurRad="38100" dist="19050" dir="2700000" algn="tl" rotWithShape="0">
                    <a:schemeClr val="dk1">
                      <a:alpha val="40000"/>
                    </a:schemeClr>
                  </a:outerShdw>
                </a:effectLst>
              </a:rPr>
              <a:t>      WHERE Vehicle = Used</a:t>
            </a:r>
          </a:p>
          <a:p>
            <a:pPr algn="just"/>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Total Tesla Vehicles Sold = COUNT(DOL Vehicle ID) WHERE Make = "Tesla“</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Tesla Market Growth = (Tesla Sales at Period t – Tesla Sales at Period t-1) ÷ Tesla</a:t>
            </a:r>
          </a:p>
          <a:p>
            <a:pPr algn="just"/>
            <a:r>
              <a:rPr lang="en-US" sz="3600" dirty="0">
                <a:ln w="0"/>
                <a:effectLst>
                  <a:outerShdw blurRad="38100" dist="19050" dir="2700000" algn="tl" rotWithShape="0">
                    <a:schemeClr val="dk1">
                      <a:alpha val="40000"/>
                    </a:schemeClr>
                  </a:outerShdw>
                </a:effectLst>
              </a:rPr>
              <a:t>      Sales at Period t-1 × 100</a:t>
            </a:r>
          </a:p>
        </p:txBody>
      </p:sp>
    </p:spTree>
    <p:extLst>
      <p:ext uri="{BB962C8B-B14F-4D97-AF65-F5344CB8AC3E}">
        <p14:creationId xmlns:p14="http://schemas.microsoft.com/office/powerpoint/2010/main" val="2345959747"/>
      </p:ext>
    </p:extLst>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750" fill="hold"/>
                                        <p:tgtEl>
                                          <p:spTgt spid="10"/>
                                        </p:tgtEl>
                                        <p:attrNameLst>
                                          <p:attrName>ppt_x</p:attrName>
                                        </p:attrNameLst>
                                      </p:cBhvr>
                                      <p:tavLst>
                                        <p:tav tm="0">
                                          <p:val>
                                            <p:strVal val="#ppt_x"/>
                                          </p:val>
                                        </p:tav>
                                        <p:tav tm="100000">
                                          <p:val>
                                            <p:strVal val="#ppt_x"/>
                                          </p:val>
                                        </p:tav>
                                      </p:tavLst>
                                    </p:anim>
                                    <p:anim calcmode="lin" valueType="num">
                                      <p:cBhvr additive="base">
                                        <p:cTn id="8" dur="75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1+#ppt_w/2"/>
                                          </p:val>
                                        </p:tav>
                                        <p:tav tm="100000">
                                          <p:val>
                                            <p:strVal val="#ppt_x"/>
                                          </p:val>
                                        </p:tav>
                                      </p:tavLst>
                                    </p:anim>
                                    <p:anim calcmode="lin" valueType="num">
                                      <p:cBhvr additive="base">
                                        <p:cTn id="12" dur="750" fill="hold"/>
                                        <p:tgtEl>
                                          <p:spTgt spid="1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22" presetClass="entr" presetSubtype="8" fill="hold" grpId="0" nodeType="withEffect">
                                  <p:stCondLst>
                                    <p:cond delay="50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par>
                          <p:cTn id="1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fade">
                                      <p:cBhvr>
                                        <p:cTn id="22" dur="500"/>
                                        <p:tgtEl>
                                          <p:spTgt spid="2">
                                            <p:txEl>
                                              <p:pRg st="1" end="1"/>
                                            </p:txEl>
                                          </p:spTgt>
                                        </p:tgtEl>
                                      </p:cBhvr>
                                    </p:animEffect>
                                  </p:childTnLst>
                                </p:cTn>
                              </p:par>
                            </p:childTnLst>
                          </p:cTn>
                        </p:par>
                        <p:par>
                          <p:cTn id="23" fill="hold">
                            <p:stCondLst>
                              <p:cond delay="1500"/>
                            </p:stCondLst>
                            <p:childTnLst>
                              <p:par>
                                <p:cTn id="24" presetID="10" presetClass="entr" presetSubtype="0" fill="hold" grpId="0" nodeType="after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fade">
                                      <p:cBhvr>
                                        <p:cTn id="26" dur="500"/>
                                        <p:tgtEl>
                                          <p:spTgt spid="2">
                                            <p:txEl>
                                              <p:pRg st="3" end="3"/>
                                            </p:txEl>
                                          </p:spTgt>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Effect transition="in" filter="fade">
                                      <p:cBhvr>
                                        <p:cTn id="30" dur="500"/>
                                        <p:tgtEl>
                                          <p:spTgt spid="2">
                                            <p:txEl>
                                              <p:pRg st="4" end="4"/>
                                            </p:txEl>
                                          </p:spTgt>
                                        </p:tgtEl>
                                      </p:cBhvr>
                                    </p:animEffect>
                                  </p:childTnLst>
                                </p:cTn>
                              </p:par>
                            </p:childTnLst>
                          </p:cTn>
                        </p:par>
                        <p:par>
                          <p:cTn id="31" fill="hold">
                            <p:stCondLst>
                              <p:cond delay="2500"/>
                            </p:stCondLst>
                            <p:childTnLst>
                              <p:par>
                                <p:cTn id="32" presetID="10" presetClass="entr" presetSubtype="0" fill="hold" grpId="0" nodeType="after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fade">
                                      <p:cBhvr>
                                        <p:cTn id="34" dur="500"/>
                                        <p:tgtEl>
                                          <p:spTgt spid="2">
                                            <p:txEl>
                                              <p:pRg st="6" end="6"/>
                                            </p:txEl>
                                          </p:spTgt>
                                        </p:tgtEl>
                                      </p:cBhvr>
                                    </p:animEffect>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2">
                                            <p:txEl>
                                              <p:pRg st="8" end="8"/>
                                            </p:txEl>
                                          </p:spTgt>
                                        </p:tgtEl>
                                        <p:attrNameLst>
                                          <p:attrName>style.visibility</p:attrName>
                                        </p:attrNameLst>
                                      </p:cBhvr>
                                      <p:to>
                                        <p:strVal val="visible"/>
                                      </p:to>
                                    </p:set>
                                    <p:animEffect transition="in" filter="fade">
                                      <p:cBhvr>
                                        <p:cTn id="38" dur="500"/>
                                        <p:tgtEl>
                                          <p:spTgt spid="2">
                                            <p:txEl>
                                              <p:pRg st="8" end="8"/>
                                            </p:txEl>
                                          </p:spTgt>
                                        </p:tgtEl>
                                      </p:cBhvr>
                                    </p:animEffect>
                                  </p:childTnLst>
                                </p:cTn>
                              </p:par>
                            </p:childTnLst>
                          </p:cTn>
                        </p:par>
                        <p:par>
                          <p:cTn id="39" fill="hold">
                            <p:stCondLst>
                              <p:cond delay="3500"/>
                            </p:stCondLst>
                            <p:childTnLst>
                              <p:par>
                                <p:cTn id="40" presetID="10" presetClass="entr" presetSubtype="0" fill="hold" grpId="0" nodeType="after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fade">
                                      <p:cBhvr>
                                        <p:cTn id="4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animBg="1"/>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9C0E0-7F2A-DD4A-BF06-22353FF40071}"/>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847E7E69-38F1-0982-A0F5-3795CB9467A1}"/>
              </a:ext>
            </a:extLst>
          </p:cNvPr>
          <p:cNvSpPr txBox="1"/>
          <p:nvPr/>
        </p:nvSpPr>
        <p:spPr>
          <a:xfrm>
            <a:off x="1143000" y="227677"/>
            <a:ext cx="8069842" cy="964238"/>
          </a:xfrm>
          <a:prstGeom prst="rect">
            <a:avLst/>
          </a:prstGeom>
        </p:spPr>
        <p:txBody>
          <a:bodyPr lIns="0" tIns="0" rIns="0" bIns="0" rtlCol="0" anchor="t">
            <a:spAutoFit/>
          </a:bodyPr>
          <a:lstStyle/>
          <a:p>
            <a:pPr algn="l">
              <a:lnSpc>
                <a:spcPts val="7300"/>
              </a:lnSpc>
            </a:pPr>
            <a:r>
              <a:rPr lang="en-US" sz="7300" b="1" dirty="0">
                <a:latin typeface="Poppins Bold"/>
                <a:ea typeface="Poppins Bold"/>
                <a:cs typeface="Poppins Bold"/>
                <a:sym typeface="Poppins Bold"/>
              </a:rPr>
              <a:t>OUR </a:t>
            </a:r>
            <a:r>
              <a:rPr lang="en-US" sz="7300" b="1" dirty="0">
                <a:solidFill>
                  <a:srgbClr val="8D0000"/>
                </a:solidFill>
                <a:latin typeface="Poppins Bold"/>
                <a:ea typeface="Poppins Bold"/>
                <a:cs typeface="Poppins Bold"/>
                <a:sym typeface="Poppins Bold"/>
              </a:rPr>
              <a:t>KPIs</a:t>
            </a:r>
          </a:p>
        </p:txBody>
      </p:sp>
      <p:grpSp>
        <p:nvGrpSpPr>
          <p:cNvPr id="10" name="Group 10">
            <a:extLst>
              <a:ext uri="{FF2B5EF4-FFF2-40B4-BE49-F238E27FC236}">
                <a16:creationId xmlns:a16="http://schemas.microsoft.com/office/drawing/2014/main" id="{2D690609-7707-898E-505E-B5FC06F9B450}"/>
              </a:ext>
            </a:extLst>
          </p:cNvPr>
          <p:cNvGrpSpPr/>
          <p:nvPr/>
        </p:nvGrpSpPr>
        <p:grpSpPr>
          <a:xfrm rot="17887257">
            <a:off x="9393112" y="-1978631"/>
            <a:ext cx="5068421" cy="1556974"/>
            <a:chOff x="0" y="0"/>
            <a:chExt cx="1334893" cy="410067"/>
          </a:xfrm>
        </p:grpSpPr>
        <p:sp>
          <p:nvSpPr>
            <p:cNvPr id="11" name="Freeform 11">
              <a:extLst>
                <a:ext uri="{FF2B5EF4-FFF2-40B4-BE49-F238E27FC236}">
                  <a16:creationId xmlns:a16="http://schemas.microsoft.com/office/drawing/2014/main" id="{2B9638FB-32D3-1B9E-BA64-41F49A6CEE68}"/>
                </a:ext>
              </a:extLst>
            </p:cNvPr>
            <p:cNvSpPr/>
            <p:nvPr/>
          </p:nvSpPr>
          <p:spPr>
            <a:xfrm>
              <a:off x="0" y="0"/>
              <a:ext cx="1334893" cy="410067"/>
            </a:xfrm>
            <a:custGeom>
              <a:avLst/>
              <a:gdLst/>
              <a:ahLst/>
              <a:cxnLst/>
              <a:rect l="l" t="t" r="r" b="b"/>
              <a:pathLst>
                <a:path w="1334893" h="410067">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2" name="TextBox 12">
              <a:extLst>
                <a:ext uri="{FF2B5EF4-FFF2-40B4-BE49-F238E27FC236}">
                  <a16:creationId xmlns:a16="http://schemas.microsoft.com/office/drawing/2014/main" id="{FAAF486E-65FC-DC31-95B1-E3545ED6B11B}"/>
                </a:ext>
              </a:extLst>
            </p:cNvPr>
            <p:cNvSpPr txBox="1"/>
            <p:nvPr/>
          </p:nvSpPr>
          <p:spPr>
            <a:xfrm>
              <a:off x="0" y="-333375"/>
              <a:ext cx="1334893" cy="743442"/>
            </a:xfrm>
            <a:prstGeom prst="rect">
              <a:avLst/>
            </a:prstGeom>
          </p:spPr>
          <p:txBody>
            <a:bodyPr lIns="50800" tIns="50800" rIns="50800" bIns="50800" rtlCol="0" anchor="ctr"/>
            <a:lstStyle/>
            <a:p>
              <a:pPr algn="ctr">
                <a:lnSpc>
                  <a:spcPts val="6249"/>
                </a:lnSpc>
              </a:pPr>
              <a:endParaRPr/>
            </a:p>
          </p:txBody>
        </p:sp>
      </p:grpSp>
      <p:sp>
        <p:nvSpPr>
          <p:cNvPr id="13" name="AutoShape 13">
            <a:extLst>
              <a:ext uri="{FF2B5EF4-FFF2-40B4-BE49-F238E27FC236}">
                <a16:creationId xmlns:a16="http://schemas.microsoft.com/office/drawing/2014/main" id="{38731C43-E6AD-1017-5B63-6FB02CF305B3}"/>
              </a:ext>
            </a:extLst>
          </p:cNvPr>
          <p:cNvSpPr/>
          <p:nvPr/>
        </p:nvSpPr>
        <p:spPr>
          <a:xfrm>
            <a:off x="-2194212" y="1398911"/>
            <a:ext cx="10602143" cy="0"/>
          </a:xfrm>
          <a:prstGeom prst="line">
            <a:avLst/>
          </a:prstGeom>
          <a:ln w="28575" cap="flat">
            <a:solidFill>
              <a:srgbClr val="000000"/>
            </a:solidFill>
            <a:prstDash val="solid"/>
            <a:headEnd type="none" w="sm" len="sm"/>
            <a:tailEnd type="none" w="sm" len="sm"/>
          </a:ln>
        </p:spPr>
        <p:txBody>
          <a:bodyPr/>
          <a:lstStyle/>
          <a:p>
            <a:endParaRPr lang="en-US"/>
          </a:p>
        </p:txBody>
      </p:sp>
      <p:grpSp>
        <p:nvGrpSpPr>
          <p:cNvPr id="14" name="Group 2">
            <a:extLst>
              <a:ext uri="{FF2B5EF4-FFF2-40B4-BE49-F238E27FC236}">
                <a16:creationId xmlns:a16="http://schemas.microsoft.com/office/drawing/2014/main" id="{A0389AC9-3651-0C18-368B-491780BAA9F6}"/>
              </a:ext>
            </a:extLst>
          </p:cNvPr>
          <p:cNvGrpSpPr/>
          <p:nvPr/>
        </p:nvGrpSpPr>
        <p:grpSpPr>
          <a:xfrm rot="18309185">
            <a:off x="16818668" y="2457849"/>
            <a:ext cx="9168186" cy="4331638"/>
            <a:chOff x="0" y="0"/>
            <a:chExt cx="2016948" cy="1429209"/>
          </a:xfrm>
        </p:grpSpPr>
        <p:sp>
          <p:nvSpPr>
            <p:cNvPr id="15" name="Freeform 3">
              <a:extLst>
                <a:ext uri="{FF2B5EF4-FFF2-40B4-BE49-F238E27FC236}">
                  <a16:creationId xmlns:a16="http://schemas.microsoft.com/office/drawing/2014/main" id="{80CB35CE-3DF7-28DA-8514-18A1DFEF0403}"/>
                </a:ext>
              </a:extLst>
            </p:cNvPr>
            <p:cNvSpPr/>
            <p:nvPr/>
          </p:nvSpPr>
          <p:spPr>
            <a:xfrm>
              <a:off x="0" y="0"/>
              <a:ext cx="2016948" cy="1429209"/>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txBody>
            <a:bodyPr/>
            <a:lstStyle/>
            <a:p>
              <a:endParaRPr lang="en-US"/>
            </a:p>
          </p:txBody>
        </p:sp>
        <p:sp>
          <p:nvSpPr>
            <p:cNvPr id="16" name="TextBox 4">
              <a:extLst>
                <a:ext uri="{FF2B5EF4-FFF2-40B4-BE49-F238E27FC236}">
                  <a16:creationId xmlns:a16="http://schemas.microsoft.com/office/drawing/2014/main" id="{CC9B5914-4561-3479-2B62-AE65BD2BCBF4}"/>
                </a:ext>
              </a:extLst>
            </p:cNvPr>
            <p:cNvSpPr txBox="1"/>
            <p:nvPr/>
          </p:nvSpPr>
          <p:spPr>
            <a:xfrm>
              <a:off x="0" y="-333375"/>
              <a:ext cx="2016948" cy="1762584"/>
            </a:xfrm>
            <a:prstGeom prst="rect">
              <a:avLst/>
            </a:prstGeom>
          </p:spPr>
          <p:txBody>
            <a:bodyPr lIns="50800" tIns="50800" rIns="50800" bIns="50800" rtlCol="0" anchor="ctr"/>
            <a:lstStyle/>
            <a:p>
              <a:pPr algn="ctr">
                <a:lnSpc>
                  <a:spcPts val="6249"/>
                </a:lnSpc>
              </a:pPr>
              <a:endParaRPr/>
            </a:p>
          </p:txBody>
        </p:sp>
      </p:grpSp>
      <p:sp>
        <p:nvSpPr>
          <p:cNvPr id="2" name="Rectangle 1">
            <a:extLst>
              <a:ext uri="{FF2B5EF4-FFF2-40B4-BE49-F238E27FC236}">
                <a16:creationId xmlns:a16="http://schemas.microsoft.com/office/drawing/2014/main" id="{FC2389EC-F2B5-F7E2-9C54-F947DB20AA8F}"/>
              </a:ext>
            </a:extLst>
          </p:cNvPr>
          <p:cNvSpPr/>
          <p:nvPr/>
        </p:nvSpPr>
        <p:spPr>
          <a:xfrm>
            <a:off x="0" y="1552464"/>
            <a:ext cx="18516600" cy="5632311"/>
          </a:xfrm>
          <a:prstGeom prst="rect">
            <a:avLst/>
          </a:prstGeom>
          <a:noFill/>
        </p:spPr>
        <p:txBody>
          <a:bodyPr wrap="square" lIns="91440" tIns="45720" rIns="91440" bIns="45720">
            <a:spAutoFit/>
          </a:bodyPr>
          <a:lstStyle/>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Average Tesla Sale Price = AVERAGE(Base MSRP) WHERE Make = "Tesla"</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Average Tesla Electric Range = AVERAGE(Electric Range) WHERE Make = "Tesla"</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Tesla CAFV Eligibility Rate = COUNT(Eligible Tesla Vehicles) ÷ COUNT(All Tesla</a:t>
            </a:r>
          </a:p>
          <a:p>
            <a:pPr algn="just"/>
            <a:r>
              <a:rPr lang="en-US" sz="3600" dirty="0">
                <a:ln w="0"/>
                <a:effectLst>
                  <a:outerShdw blurRad="38100" dist="19050" dir="2700000" algn="tl" rotWithShape="0">
                    <a:schemeClr val="dk1">
                      <a:alpha val="40000"/>
                    </a:schemeClr>
                  </a:outerShdw>
                </a:effectLst>
              </a:rPr>
              <a:t>      Vehicles)</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Tesla Sales Distribution = COUNT(DOL Vehicle ID) GROUP BY (State/City/Legislative</a:t>
            </a:r>
          </a:p>
          <a:p>
            <a:pPr algn="just"/>
            <a:r>
              <a:rPr lang="en-US" sz="3600" dirty="0">
                <a:ln w="0"/>
                <a:effectLst>
                  <a:outerShdw blurRad="38100" dist="19050" dir="2700000" algn="tl" rotWithShape="0">
                    <a:schemeClr val="dk1">
                      <a:alpha val="40000"/>
                    </a:schemeClr>
                  </a:outerShdw>
                </a:effectLst>
              </a:rPr>
              <a:t>      District) WHERE Make = "Tesla"</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62849910"/>
      </p:ext>
    </p:extLst>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1+#ppt_w/2"/>
                                          </p:val>
                                        </p:tav>
                                        <p:tav tm="100000">
                                          <p:val>
                                            <p:strVal val="#ppt_x"/>
                                          </p:val>
                                        </p:tav>
                                      </p:tavLst>
                                    </p:anim>
                                    <p:anim calcmode="lin" valueType="num">
                                      <p:cBhvr additive="base">
                                        <p:cTn id="8" dur="75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0-#ppt_h/2"/>
                                          </p:val>
                                        </p:tav>
                                        <p:tav tm="100000">
                                          <p:val>
                                            <p:strVal val="#ppt_y"/>
                                          </p:val>
                                        </p:tav>
                                      </p:tavLst>
                                    </p:anim>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1250"/>
                            </p:stCondLst>
                            <p:childTnLst>
                              <p:par>
                                <p:cTn id="21" presetID="10" presetClass="entr" presetSubtype="0" fill="hold" grpId="0" nodeType="after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fade">
                                      <p:cBhvr>
                                        <p:cTn id="23" dur="500"/>
                                        <p:tgtEl>
                                          <p:spTgt spid="2">
                                            <p:txEl>
                                              <p:pRg st="0" end="0"/>
                                            </p:txEl>
                                          </p:spTgt>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500"/>
                                        <p:tgtEl>
                                          <p:spTgt spid="2">
                                            <p:txEl>
                                              <p:pRg st="2" end="2"/>
                                            </p:txEl>
                                          </p:spTgt>
                                        </p:tgtEl>
                                      </p:cBhvr>
                                    </p:animEffect>
                                  </p:childTnLst>
                                </p:cTn>
                              </p:par>
                            </p:childTnLst>
                          </p:cTn>
                        </p:par>
                        <p:par>
                          <p:cTn id="28" fill="hold">
                            <p:stCondLst>
                              <p:cond delay="2250"/>
                            </p:stCondLst>
                            <p:childTnLst>
                              <p:par>
                                <p:cTn id="29" presetID="10" presetClass="entr" presetSubtype="0" fill="hold" grpId="0" nodeType="after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Effect transition="in" filter="fade">
                                      <p:cBhvr>
                                        <p:cTn id="31" dur="500"/>
                                        <p:tgtEl>
                                          <p:spTgt spid="2">
                                            <p:txEl>
                                              <p:pRg st="4" end="4"/>
                                            </p:txEl>
                                          </p:spTgt>
                                        </p:tgtEl>
                                      </p:cBhvr>
                                    </p:animEffect>
                                  </p:childTnLst>
                                </p:cTn>
                              </p:par>
                            </p:childTnLst>
                          </p:cTn>
                        </p:par>
                        <p:par>
                          <p:cTn id="32" fill="hold">
                            <p:stCondLst>
                              <p:cond delay="2750"/>
                            </p:stCondLst>
                            <p:childTnLst>
                              <p:par>
                                <p:cTn id="33" presetID="10" presetClass="entr" presetSubtype="0" fill="hold" grpId="0" nodeType="after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Effect transition="in" filter="fade">
                                      <p:cBhvr>
                                        <p:cTn id="35" dur="500"/>
                                        <p:tgtEl>
                                          <p:spTgt spid="2">
                                            <p:txEl>
                                              <p:pRg st="5" end="5"/>
                                            </p:txEl>
                                          </p:spTgt>
                                        </p:tgtEl>
                                      </p:cBhvr>
                                    </p:animEffect>
                                  </p:childTnLst>
                                </p:cTn>
                              </p:par>
                            </p:childTnLst>
                          </p:cTn>
                        </p:par>
                        <p:par>
                          <p:cTn id="36" fill="hold">
                            <p:stCondLst>
                              <p:cond delay="3250"/>
                            </p:stCondLst>
                            <p:childTnLst>
                              <p:par>
                                <p:cTn id="37" presetID="10" presetClass="entr" presetSubtype="0" fill="hold" grpId="0" nodeType="after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animEffect transition="in" filter="fade">
                                      <p:cBhvr>
                                        <p:cTn id="39" dur="500"/>
                                        <p:tgtEl>
                                          <p:spTgt spid="2">
                                            <p:txEl>
                                              <p:pRg st="7" end="7"/>
                                            </p:txEl>
                                          </p:spTgt>
                                        </p:tgtEl>
                                      </p:cBhvr>
                                    </p:animEffect>
                                  </p:childTnLst>
                                </p:cTn>
                              </p:par>
                            </p:childTnLst>
                          </p:cTn>
                        </p:par>
                        <p:par>
                          <p:cTn id="40" fill="hold">
                            <p:stCondLst>
                              <p:cond delay="3750"/>
                            </p:stCondLst>
                            <p:childTnLst>
                              <p:par>
                                <p:cTn id="41" presetID="10" presetClass="entr" presetSubtype="0" fill="hold" grpId="0" nodeType="after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Effect transition="in" filter="fade">
                                      <p:cBhvr>
                                        <p:cTn id="43"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animBg="1"/>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82081-F3E1-2BF5-67FC-758F88E1346D}"/>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F1BFC16-36DC-33E2-CBCE-93AB6B035313}"/>
              </a:ext>
            </a:extLst>
          </p:cNvPr>
          <p:cNvSpPr txBox="1"/>
          <p:nvPr/>
        </p:nvSpPr>
        <p:spPr>
          <a:xfrm>
            <a:off x="368569" y="331801"/>
            <a:ext cx="8069842" cy="964238"/>
          </a:xfrm>
          <a:prstGeom prst="rect">
            <a:avLst/>
          </a:prstGeom>
        </p:spPr>
        <p:txBody>
          <a:bodyPr lIns="0" tIns="0" rIns="0" bIns="0" rtlCol="0" anchor="t">
            <a:spAutoFit/>
          </a:bodyPr>
          <a:lstStyle/>
          <a:p>
            <a:pPr>
              <a:lnSpc>
                <a:spcPts val="7300"/>
              </a:lnSpc>
            </a:pPr>
            <a:r>
              <a:rPr lang="en-US" sz="7300" b="1" dirty="0">
                <a:latin typeface="Palatino Linotype" panose="02040502050505030304" pitchFamily="18" charset="0"/>
                <a:ea typeface="Poppins Bold"/>
                <a:cs typeface="Poppins Bold"/>
                <a:sym typeface="Poppins Bold"/>
              </a:rPr>
              <a:t>Stock Market </a:t>
            </a:r>
            <a:r>
              <a:rPr lang="en-US" sz="7300" b="1" dirty="0">
                <a:solidFill>
                  <a:srgbClr val="8D0000"/>
                </a:solidFill>
                <a:latin typeface="Poppins Bold"/>
                <a:ea typeface="Poppins Bold"/>
                <a:cs typeface="Poppins Bold"/>
                <a:sym typeface="Poppins Bold"/>
              </a:rPr>
              <a:t>KPI</a:t>
            </a:r>
          </a:p>
        </p:txBody>
      </p:sp>
      <p:grpSp>
        <p:nvGrpSpPr>
          <p:cNvPr id="10" name="Group 10">
            <a:extLst>
              <a:ext uri="{FF2B5EF4-FFF2-40B4-BE49-F238E27FC236}">
                <a16:creationId xmlns:a16="http://schemas.microsoft.com/office/drawing/2014/main" id="{FED8F47B-FFA4-70A0-5771-32682B5C844E}"/>
              </a:ext>
            </a:extLst>
          </p:cNvPr>
          <p:cNvGrpSpPr/>
          <p:nvPr/>
        </p:nvGrpSpPr>
        <p:grpSpPr>
          <a:xfrm rot="-3503507">
            <a:off x="8974767" y="-1945852"/>
            <a:ext cx="5068421" cy="1556974"/>
            <a:chOff x="0" y="0"/>
            <a:chExt cx="1334893" cy="410067"/>
          </a:xfrm>
        </p:grpSpPr>
        <p:sp>
          <p:nvSpPr>
            <p:cNvPr id="11" name="Freeform 11">
              <a:extLst>
                <a:ext uri="{FF2B5EF4-FFF2-40B4-BE49-F238E27FC236}">
                  <a16:creationId xmlns:a16="http://schemas.microsoft.com/office/drawing/2014/main" id="{EAF3A48D-661D-5968-ED71-F93D3B13B8B1}"/>
                </a:ext>
              </a:extLst>
            </p:cNvPr>
            <p:cNvSpPr/>
            <p:nvPr/>
          </p:nvSpPr>
          <p:spPr>
            <a:xfrm>
              <a:off x="0" y="0"/>
              <a:ext cx="1334893" cy="410067"/>
            </a:xfrm>
            <a:custGeom>
              <a:avLst/>
              <a:gdLst/>
              <a:ahLst/>
              <a:cxnLst/>
              <a:rect l="l" t="t" r="r" b="b"/>
              <a:pathLst>
                <a:path w="1334893" h="410067">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2" name="TextBox 12">
              <a:extLst>
                <a:ext uri="{FF2B5EF4-FFF2-40B4-BE49-F238E27FC236}">
                  <a16:creationId xmlns:a16="http://schemas.microsoft.com/office/drawing/2014/main" id="{098156EB-AEB1-18CF-349D-586FCA177078}"/>
                </a:ext>
              </a:extLst>
            </p:cNvPr>
            <p:cNvSpPr txBox="1"/>
            <p:nvPr/>
          </p:nvSpPr>
          <p:spPr>
            <a:xfrm>
              <a:off x="0" y="-333375"/>
              <a:ext cx="1334893" cy="743442"/>
            </a:xfrm>
            <a:prstGeom prst="rect">
              <a:avLst/>
            </a:prstGeom>
          </p:spPr>
          <p:txBody>
            <a:bodyPr lIns="50800" tIns="50800" rIns="50800" bIns="50800" rtlCol="0" anchor="ctr"/>
            <a:lstStyle/>
            <a:p>
              <a:pPr algn="ctr">
                <a:lnSpc>
                  <a:spcPts val="6249"/>
                </a:lnSpc>
              </a:pPr>
              <a:endParaRPr/>
            </a:p>
          </p:txBody>
        </p:sp>
      </p:grpSp>
      <p:sp>
        <p:nvSpPr>
          <p:cNvPr id="13" name="AutoShape 13">
            <a:extLst>
              <a:ext uri="{FF2B5EF4-FFF2-40B4-BE49-F238E27FC236}">
                <a16:creationId xmlns:a16="http://schemas.microsoft.com/office/drawing/2014/main" id="{F1BF1D6A-61A1-65B2-BCF5-C09E26778E32}"/>
              </a:ext>
            </a:extLst>
          </p:cNvPr>
          <p:cNvSpPr/>
          <p:nvPr/>
        </p:nvSpPr>
        <p:spPr>
          <a:xfrm>
            <a:off x="-2194212" y="1398911"/>
            <a:ext cx="10602143" cy="0"/>
          </a:xfrm>
          <a:prstGeom prst="line">
            <a:avLst/>
          </a:prstGeom>
          <a:ln w="28575" cap="flat">
            <a:solidFill>
              <a:srgbClr val="000000"/>
            </a:solidFill>
            <a:prstDash val="solid"/>
            <a:headEnd type="none" w="sm" len="sm"/>
            <a:tailEnd type="none" w="sm" len="sm"/>
          </a:ln>
        </p:spPr>
        <p:txBody>
          <a:bodyPr/>
          <a:lstStyle/>
          <a:p>
            <a:endParaRPr lang="en-US"/>
          </a:p>
        </p:txBody>
      </p:sp>
      <p:grpSp>
        <p:nvGrpSpPr>
          <p:cNvPr id="14" name="Group 2">
            <a:extLst>
              <a:ext uri="{FF2B5EF4-FFF2-40B4-BE49-F238E27FC236}">
                <a16:creationId xmlns:a16="http://schemas.microsoft.com/office/drawing/2014/main" id="{478D0B52-39C7-D57B-951A-4009BE77334F}"/>
              </a:ext>
            </a:extLst>
          </p:cNvPr>
          <p:cNvGrpSpPr/>
          <p:nvPr/>
        </p:nvGrpSpPr>
        <p:grpSpPr>
          <a:xfrm rot="18309185">
            <a:off x="16818668" y="2457849"/>
            <a:ext cx="9168186" cy="4331638"/>
            <a:chOff x="0" y="0"/>
            <a:chExt cx="2016948" cy="1429209"/>
          </a:xfrm>
        </p:grpSpPr>
        <p:sp>
          <p:nvSpPr>
            <p:cNvPr id="15" name="Freeform 3">
              <a:extLst>
                <a:ext uri="{FF2B5EF4-FFF2-40B4-BE49-F238E27FC236}">
                  <a16:creationId xmlns:a16="http://schemas.microsoft.com/office/drawing/2014/main" id="{87B33949-AEA3-2585-3452-4E4C3981451E}"/>
                </a:ext>
              </a:extLst>
            </p:cNvPr>
            <p:cNvSpPr/>
            <p:nvPr/>
          </p:nvSpPr>
          <p:spPr>
            <a:xfrm>
              <a:off x="0" y="0"/>
              <a:ext cx="2016948" cy="1429209"/>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txBody>
            <a:bodyPr/>
            <a:lstStyle/>
            <a:p>
              <a:endParaRPr lang="en-US"/>
            </a:p>
          </p:txBody>
        </p:sp>
        <p:sp>
          <p:nvSpPr>
            <p:cNvPr id="16" name="TextBox 4">
              <a:extLst>
                <a:ext uri="{FF2B5EF4-FFF2-40B4-BE49-F238E27FC236}">
                  <a16:creationId xmlns:a16="http://schemas.microsoft.com/office/drawing/2014/main" id="{64756CCF-FA61-4D01-865B-6A3E63264FC2}"/>
                </a:ext>
              </a:extLst>
            </p:cNvPr>
            <p:cNvSpPr txBox="1"/>
            <p:nvPr/>
          </p:nvSpPr>
          <p:spPr>
            <a:xfrm>
              <a:off x="0" y="-333375"/>
              <a:ext cx="2016948" cy="1762584"/>
            </a:xfrm>
            <a:prstGeom prst="rect">
              <a:avLst/>
            </a:prstGeom>
          </p:spPr>
          <p:txBody>
            <a:bodyPr lIns="50800" tIns="50800" rIns="50800" bIns="50800" rtlCol="0" anchor="ctr"/>
            <a:lstStyle/>
            <a:p>
              <a:pPr algn="ctr">
                <a:lnSpc>
                  <a:spcPts val="6249"/>
                </a:lnSpc>
              </a:pPr>
              <a:endParaRPr/>
            </a:p>
          </p:txBody>
        </p:sp>
      </p:grpSp>
      <p:sp>
        <p:nvSpPr>
          <p:cNvPr id="2" name="Rectangle 1">
            <a:extLst>
              <a:ext uri="{FF2B5EF4-FFF2-40B4-BE49-F238E27FC236}">
                <a16:creationId xmlns:a16="http://schemas.microsoft.com/office/drawing/2014/main" id="{E638517A-03BB-D325-8CAB-6CDA6F88DF3D}"/>
              </a:ext>
            </a:extLst>
          </p:cNvPr>
          <p:cNvSpPr/>
          <p:nvPr/>
        </p:nvSpPr>
        <p:spPr>
          <a:xfrm>
            <a:off x="121920" y="1524644"/>
            <a:ext cx="16044566" cy="7294305"/>
          </a:xfrm>
          <a:prstGeom prst="rect">
            <a:avLst/>
          </a:prstGeom>
          <a:noFill/>
        </p:spPr>
        <p:txBody>
          <a:bodyPr wrap="square" lIns="91440" tIns="45720" rIns="91440" bIns="45720">
            <a:spAutoFit/>
          </a:bodyPr>
          <a:lstStyle/>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Stock Price Growth = (Current Price – Previous Price) ÷ Previous Price × 100</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Average Stock Price = SUM(Closing Prices) ÷ N</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Moving Average (MA) = (Price1 + Price2 + ... + Price) ÷ Number of Days</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Daily Returns = (Price at Day t – Price at Day t-1) ÷ Price at Day t-1</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Volatility = Standard Deviation(Daily Returns)</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Average Trading Volume = Total Trading Volume ÷ Number of Days</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Max Drawdown during the selected time = (Peak Price – Trough Price) ÷ Peak Price</a:t>
            </a:r>
            <a:endParaRPr lang="en-US" sz="2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20537165"/>
      </p:ext>
    </p:extLst>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750" fill="hold"/>
                                        <p:tgtEl>
                                          <p:spTgt spid="10"/>
                                        </p:tgtEl>
                                        <p:attrNameLst>
                                          <p:attrName>ppt_x</p:attrName>
                                        </p:attrNameLst>
                                      </p:cBhvr>
                                      <p:tavLst>
                                        <p:tav tm="0">
                                          <p:val>
                                            <p:strVal val="#ppt_x"/>
                                          </p:val>
                                        </p:tav>
                                        <p:tav tm="100000">
                                          <p:val>
                                            <p:strVal val="#ppt_x"/>
                                          </p:val>
                                        </p:tav>
                                      </p:tavLst>
                                    </p:anim>
                                    <p:anim calcmode="lin" valueType="num">
                                      <p:cBhvr additive="base">
                                        <p:cTn id="8" dur="75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1+#ppt_w/2"/>
                                          </p:val>
                                        </p:tav>
                                        <p:tav tm="100000">
                                          <p:val>
                                            <p:strVal val="#ppt_x"/>
                                          </p:val>
                                        </p:tav>
                                      </p:tavLst>
                                    </p:anim>
                                    <p:anim calcmode="lin" valueType="num">
                                      <p:cBhvr additive="base">
                                        <p:cTn id="12" dur="75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1250"/>
                            </p:stCondLst>
                            <p:childTnLst>
                              <p:par>
                                <p:cTn id="21" presetID="10" presetClass="entr" presetSubtype="0" fill="hold" grpId="0" nodeType="after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fade">
                                      <p:cBhvr>
                                        <p:cTn id="23" dur="500"/>
                                        <p:tgtEl>
                                          <p:spTgt spid="2">
                                            <p:txEl>
                                              <p:pRg st="0" end="0"/>
                                            </p:txEl>
                                          </p:spTgt>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fade">
                                      <p:cBhvr>
                                        <p:cTn id="27" dur="500"/>
                                        <p:tgtEl>
                                          <p:spTgt spid="2">
                                            <p:txEl>
                                              <p:pRg st="2" end="2"/>
                                            </p:txEl>
                                          </p:spTgt>
                                        </p:tgtEl>
                                      </p:cBhvr>
                                    </p:animEffect>
                                  </p:childTnLst>
                                </p:cTn>
                              </p:par>
                            </p:childTnLst>
                          </p:cTn>
                        </p:par>
                        <p:par>
                          <p:cTn id="28" fill="hold">
                            <p:stCondLst>
                              <p:cond delay="2250"/>
                            </p:stCondLst>
                            <p:childTnLst>
                              <p:par>
                                <p:cTn id="29" presetID="10" presetClass="entr" presetSubtype="0" fill="hold" grpId="0" nodeType="after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Effect transition="in" filter="fade">
                                      <p:cBhvr>
                                        <p:cTn id="31" dur="500"/>
                                        <p:tgtEl>
                                          <p:spTgt spid="2">
                                            <p:txEl>
                                              <p:pRg st="4" end="4"/>
                                            </p:txEl>
                                          </p:spTgt>
                                        </p:tgtEl>
                                      </p:cBhvr>
                                    </p:animEffect>
                                  </p:childTnLst>
                                </p:cTn>
                              </p:par>
                            </p:childTnLst>
                          </p:cTn>
                        </p:par>
                        <p:par>
                          <p:cTn id="32" fill="hold">
                            <p:stCondLst>
                              <p:cond delay="2750"/>
                            </p:stCondLst>
                            <p:childTnLst>
                              <p:par>
                                <p:cTn id="33" presetID="10" presetClass="entr" presetSubtype="0" fill="hold" grpId="0" nodeType="after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Effect transition="in" filter="fade">
                                      <p:cBhvr>
                                        <p:cTn id="35" dur="500"/>
                                        <p:tgtEl>
                                          <p:spTgt spid="2">
                                            <p:txEl>
                                              <p:pRg st="6" end="6"/>
                                            </p:txEl>
                                          </p:spTgt>
                                        </p:tgtEl>
                                      </p:cBhvr>
                                    </p:animEffect>
                                  </p:childTnLst>
                                </p:cTn>
                              </p:par>
                            </p:childTnLst>
                          </p:cTn>
                        </p:par>
                        <p:par>
                          <p:cTn id="36" fill="hold">
                            <p:stCondLst>
                              <p:cond delay="3250"/>
                            </p:stCondLst>
                            <p:childTnLst>
                              <p:par>
                                <p:cTn id="37" presetID="10" presetClass="entr" presetSubtype="0" fill="hold" grpId="0" nodeType="after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fade">
                                      <p:cBhvr>
                                        <p:cTn id="39" dur="500"/>
                                        <p:tgtEl>
                                          <p:spTgt spid="2">
                                            <p:txEl>
                                              <p:pRg st="8" end="8"/>
                                            </p:txEl>
                                          </p:spTgt>
                                        </p:tgtEl>
                                      </p:cBhvr>
                                    </p:animEffect>
                                  </p:childTnLst>
                                </p:cTn>
                              </p:par>
                            </p:childTnLst>
                          </p:cTn>
                        </p:par>
                        <p:par>
                          <p:cTn id="40" fill="hold">
                            <p:stCondLst>
                              <p:cond delay="3750"/>
                            </p:stCondLst>
                            <p:childTnLst>
                              <p:par>
                                <p:cTn id="41" presetID="10" presetClass="entr" presetSubtype="0" fill="hold" grpId="0" nodeType="after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fade">
                                      <p:cBhvr>
                                        <p:cTn id="43" dur="500"/>
                                        <p:tgtEl>
                                          <p:spTgt spid="2">
                                            <p:txEl>
                                              <p:pRg st="10" end="10"/>
                                            </p:txEl>
                                          </p:spTgt>
                                        </p:tgtEl>
                                      </p:cBhvr>
                                    </p:animEffect>
                                  </p:childTnLst>
                                </p:cTn>
                              </p:par>
                            </p:childTnLst>
                          </p:cTn>
                        </p:par>
                        <p:par>
                          <p:cTn id="44" fill="hold">
                            <p:stCondLst>
                              <p:cond delay="4250"/>
                            </p:stCondLst>
                            <p:childTnLst>
                              <p:par>
                                <p:cTn id="45" presetID="10" presetClass="entr" presetSubtype="0" fill="hold" grpId="0" nodeType="afterEffect">
                                  <p:stCondLst>
                                    <p:cond delay="0"/>
                                  </p:stCondLst>
                                  <p:childTnLst>
                                    <p:set>
                                      <p:cBhvr>
                                        <p:cTn id="46" dur="1" fill="hold">
                                          <p:stCondLst>
                                            <p:cond delay="0"/>
                                          </p:stCondLst>
                                        </p:cTn>
                                        <p:tgtEl>
                                          <p:spTgt spid="2">
                                            <p:txEl>
                                              <p:pRg st="12" end="12"/>
                                            </p:txEl>
                                          </p:spTgt>
                                        </p:tgtEl>
                                        <p:attrNameLst>
                                          <p:attrName>style.visibility</p:attrName>
                                        </p:attrNameLst>
                                      </p:cBhvr>
                                      <p:to>
                                        <p:strVal val="visible"/>
                                      </p:to>
                                    </p:set>
                                    <p:animEffect transition="in" filter="fade">
                                      <p:cBhvr>
                                        <p:cTn id="47"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animBg="1"/>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7B1E7-190C-E5D3-D35E-3FE2A6527FC0}"/>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31794AC-7517-A2E5-D1E7-6CB7F5D00678}"/>
              </a:ext>
            </a:extLst>
          </p:cNvPr>
          <p:cNvSpPr txBox="1"/>
          <p:nvPr/>
        </p:nvSpPr>
        <p:spPr>
          <a:xfrm>
            <a:off x="102167" y="357897"/>
            <a:ext cx="8553278" cy="964238"/>
          </a:xfrm>
          <a:prstGeom prst="rect">
            <a:avLst/>
          </a:prstGeom>
        </p:spPr>
        <p:txBody>
          <a:bodyPr wrap="square" lIns="0" tIns="0" rIns="0" bIns="0" rtlCol="0" anchor="t">
            <a:spAutoFit/>
          </a:bodyPr>
          <a:lstStyle/>
          <a:p>
            <a:pPr>
              <a:lnSpc>
                <a:spcPts val="7300"/>
              </a:lnSpc>
            </a:pPr>
            <a:r>
              <a:rPr lang="en-US" sz="7300" b="1" dirty="0">
                <a:latin typeface="Palatino Linotype" panose="02040502050505030304" pitchFamily="18" charset="0"/>
                <a:ea typeface="Poppins Bold"/>
                <a:cs typeface="Poppins Bold"/>
                <a:sym typeface="Poppins Bold"/>
              </a:rPr>
              <a:t>Comparison</a:t>
            </a:r>
            <a:r>
              <a:rPr lang="en-US" sz="7300" b="1" dirty="0">
                <a:latin typeface="Poppins Bold"/>
                <a:ea typeface="Poppins Bold"/>
                <a:cs typeface="Poppins Bold"/>
                <a:sym typeface="Poppins Bold"/>
              </a:rPr>
              <a:t> </a:t>
            </a:r>
            <a:r>
              <a:rPr lang="en-US" sz="7300" b="1" dirty="0">
                <a:solidFill>
                  <a:srgbClr val="8D0000"/>
                </a:solidFill>
                <a:latin typeface="Poppins Bold"/>
                <a:ea typeface="Poppins Bold"/>
                <a:cs typeface="Poppins Bold"/>
                <a:sym typeface="Poppins Bold"/>
              </a:rPr>
              <a:t>KPIs</a:t>
            </a:r>
          </a:p>
        </p:txBody>
      </p:sp>
      <p:grpSp>
        <p:nvGrpSpPr>
          <p:cNvPr id="10" name="Group 10">
            <a:extLst>
              <a:ext uri="{FF2B5EF4-FFF2-40B4-BE49-F238E27FC236}">
                <a16:creationId xmlns:a16="http://schemas.microsoft.com/office/drawing/2014/main" id="{A8D78963-6B44-26CB-AC23-0B1C723C5AC6}"/>
              </a:ext>
            </a:extLst>
          </p:cNvPr>
          <p:cNvGrpSpPr/>
          <p:nvPr/>
        </p:nvGrpSpPr>
        <p:grpSpPr>
          <a:xfrm rot="-3503507">
            <a:off x="8097196" y="-1761402"/>
            <a:ext cx="5068421" cy="1556974"/>
            <a:chOff x="0" y="0"/>
            <a:chExt cx="1334893" cy="410067"/>
          </a:xfrm>
        </p:grpSpPr>
        <p:sp>
          <p:nvSpPr>
            <p:cNvPr id="11" name="Freeform 11">
              <a:extLst>
                <a:ext uri="{FF2B5EF4-FFF2-40B4-BE49-F238E27FC236}">
                  <a16:creationId xmlns:a16="http://schemas.microsoft.com/office/drawing/2014/main" id="{D7C04444-992C-3710-2F0D-E6969233C5F2}"/>
                </a:ext>
              </a:extLst>
            </p:cNvPr>
            <p:cNvSpPr/>
            <p:nvPr/>
          </p:nvSpPr>
          <p:spPr>
            <a:xfrm>
              <a:off x="0" y="0"/>
              <a:ext cx="1334893" cy="410067"/>
            </a:xfrm>
            <a:custGeom>
              <a:avLst/>
              <a:gdLst/>
              <a:ahLst/>
              <a:cxnLst/>
              <a:rect l="l" t="t" r="r" b="b"/>
              <a:pathLst>
                <a:path w="1334893" h="410067">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2" name="TextBox 12">
              <a:extLst>
                <a:ext uri="{FF2B5EF4-FFF2-40B4-BE49-F238E27FC236}">
                  <a16:creationId xmlns:a16="http://schemas.microsoft.com/office/drawing/2014/main" id="{A1C02B5D-1032-7D28-A424-D1B38B9A8D97}"/>
                </a:ext>
              </a:extLst>
            </p:cNvPr>
            <p:cNvSpPr txBox="1"/>
            <p:nvPr/>
          </p:nvSpPr>
          <p:spPr>
            <a:xfrm>
              <a:off x="0" y="-333375"/>
              <a:ext cx="1334893" cy="743442"/>
            </a:xfrm>
            <a:prstGeom prst="rect">
              <a:avLst/>
            </a:prstGeom>
          </p:spPr>
          <p:txBody>
            <a:bodyPr lIns="50800" tIns="50800" rIns="50800" bIns="50800" rtlCol="0" anchor="ctr"/>
            <a:lstStyle/>
            <a:p>
              <a:pPr algn="ctr">
                <a:lnSpc>
                  <a:spcPts val="6249"/>
                </a:lnSpc>
              </a:pPr>
              <a:endParaRPr/>
            </a:p>
          </p:txBody>
        </p:sp>
      </p:grpSp>
      <p:sp>
        <p:nvSpPr>
          <p:cNvPr id="13" name="AutoShape 13">
            <a:extLst>
              <a:ext uri="{FF2B5EF4-FFF2-40B4-BE49-F238E27FC236}">
                <a16:creationId xmlns:a16="http://schemas.microsoft.com/office/drawing/2014/main" id="{ACF22CCB-544B-4305-6C59-029FFAC645B7}"/>
              </a:ext>
            </a:extLst>
          </p:cNvPr>
          <p:cNvSpPr/>
          <p:nvPr/>
        </p:nvSpPr>
        <p:spPr>
          <a:xfrm>
            <a:off x="-2194212" y="1398911"/>
            <a:ext cx="10602143" cy="0"/>
          </a:xfrm>
          <a:prstGeom prst="line">
            <a:avLst/>
          </a:prstGeom>
          <a:ln w="28575" cap="flat">
            <a:solidFill>
              <a:srgbClr val="000000"/>
            </a:solidFill>
            <a:prstDash val="solid"/>
            <a:headEnd type="none" w="sm" len="sm"/>
            <a:tailEnd type="none" w="sm" len="sm"/>
          </a:ln>
        </p:spPr>
        <p:txBody>
          <a:bodyPr/>
          <a:lstStyle/>
          <a:p>
            <a:endParaRPr lang="en-US"/>
          </a:p>
        </p:txBody>
      </p:sp>
      <p:grpSp>
        <p:nvGrpSpPr>
          <p:cNvPr id="14" name="Group 2">
            <a:extLst>
              <a:ext uri="{FF2B5EF4-FFF2-40B4-BE49-F238E27FC236}">
                <a16:creationId xmlns:a16="http://schemas.microsoft.com/office/drawing/2014/main" id="{9278400E-AFE7-9109-C58F-C5FA30FEE4C2}"/>
              </a:ext>
            </a:extLst>
          </p:cNvPr>
          <p:cNvGrpSpPr/>
          <p:nvPr/>
        </p:nvGrpSpPr>
        <p:grpSpPr>
          <a:xfrm rot="18309185">
            <a:off x="15877011" y="1936056"/>
            <a:ext cx="10280924" cy="6193540"/>
            <a:chOff x="-244796" y="-333375"/>
            <a:chExt cx="2261744" cy="2043537"/>
          </a:xfrm>
        </p:grpSpPr>
        <p:sp>
          <p:nvSpPr>
            <p:cNvPr id="15" name="Freeform 3">
              <a:extLst>
                <a:ext uri="{FF2B5EF4-FFF2-40B4-BE49-F238E27FC236}">
                  <a16:creationId xmlns:a16="http://schemas.microsoft.com/office/drawing/2014/main" id="{05D993E1-2B54-F1F0-00BF-C2E58DBDDFE6}"/>
                </a:ext>
              </a:extLst>
            </p:cNvPr>
            <p:cNvSpPr/>
            <p:nvPr/>
          </p:nvSpPr>
          <p:spPr>
            <a:xfrm>
              <a:off x="-244796" y="280953"/>
              <a:ext cx="2016948" cy="1429209"/>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txBody>
            <a:bodyPr/>
            <a:lstStyle/>
            <a:p>
              <a:endParaRPr lang="en-US" dirty="0"/>
            </a:p>
          </p:txBody>
        </p:sp>
        <p:sp>
          <p:nvSpPr>
            <p:cNvPr id="16" name="TextBox 4">
              <a:extLst>
                <a:ext uri="{FF2B5EF4-FFF2-40B4-BE49-F238E27FC236}">
                  <a16:creationId xmlns:a16="http://schemas.microsoft.com/office/drawing/2014/main" id="{935EAC8C-DC81-E34C-F154-1FED9B4E9235}"/>
                </a:ext>
              </a:extLst>
            </p:cNvPr>
            <p:cNvSpPr txBox="1"/>
            <p:nvPr/>
          </p:nvSpPr>
          <p:spPr>
            <a:xfrm>
              <a:off x="0" y="-333375"/>
              <a:ext cx="2016948" cy="1762584"/>
            </a:xfrm>
            <a:prstGeom prst="rect">
              <a:avLst/>
            </a:prstGeom>
          </p:spPr>
          <p:txBody>
            <a:bodyPr lIns="50800" tIns="50800" rIns="50800" bIns="50800" rtlCol="0" anchor="ctr"/>
            <a:lstStyle/>
            <a:p>
              <a:pPr algn="ctr">
                <a:lnSpc>
                  <a:spcPts val="6249"/>
                </a:lnSpc>
              </a:pPr>
              <a:endParaRPr/>
            </a:p>
          </p:txBody>
        </p:sp>
      </p:grpSp>
      <p:sp>
        <p:nvSpPr>
          <p:cNvPr id="2" name="Rectangle 1">
            <a:extLst>
              <a:ext uri="{FF2B5EF4-FFF2-40B4-BE49-F238E27FC236}">
                <a16:creationId xmlns:a16="http://schemas.microsoft.com/office/drawing/2014/main" id="{BDECE921-547A-5D62-807F-EDE47FAB29C0}"/>
              </a:ext>
            </a:extLst>
          </p:cNvPr>
          <p:cNvSpPr/>
          <p:nvPr/>
        </p:nvSpPr>
        <p:spPr>
          <a:xfrm>
            <a:off x="0" y="2397295"/>
            <a:ext cx="17983200" cy="6186309"/>
          </a:xfrm>
          <a:prstGeom prst="rect">
            <a:avLst/>
          </a:prstGeom>
          <a:noFill/>
        </p:spPr>
        <p:txBody>
          <a:bodyPr wrap="square" lIns="91440" tIns="45720" rIns="91440" bIns="45720">
            <a:spAutoFit/>
          </a:bodyPr>
          <a:lstStyle/>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Tesla’s sold cars vs other competitors  = COUNT(Tesla Vehicles) ÷ COUNT(All EV Vehicles)</a:t>
            </a:r>
            <a:br>
              <a:rPr lang="en-US" sz="3600" dirty="0">
                <a:ln w="0"/>
                <a:effectLst>
                  <a:outerShdw blurRad="38100" dist="19050" dir="2700000" algn="tl" rotWithShape="0">
                    <a:schemeClr val="dk1">
                      <a:alpha val="40000"/>
                    </a:schemeClr>
                  </a:outerShdw>
                </a:effectLst>
              </a:rPr>
            </a:b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Tesla Avg Price vs Competitors = AVERAGE(Base MSRP Tesla) – AVERAGE(Base</a:t>
            </a:r>
          </a:p>
          <a:p>
            <a:pPr algn="just"/>
            <a:r>
              <a:rPr lang="en-US" sz="3600" dirty="0">
                <a:ln w="0"/>
                <a:effectLst>
                  <a:outerShdw blurRad="38100" dist="19050" dir="2700000" algn="tl" rotWithShape="0">
                    <a:schemeClr val="dk1">
                      <a:alpha val="40000"/>
                    </a:schemeClr>
                  </a:outerShdw>
                </a:effectLst>
              </a:rPr>
              <a:t>      MSRP Others)</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Tesla Avg Range vs Competitors = AVERAGE(Electric Range Tesla) –</a:t>
            </a:r>
          </a:p>
          <a:p>
            <a:pPr algn="just"/>
            <a:r>
              <a:rPr lang="en-US" sz="3600" dirty="0">
                <a:ln w="0"/>
                <a:effectLst>
                  <a:outerShdw blurRad="38100" dist="19050" dir="2700000" algn="tl" rotWithShape="0">
                    <a:schemeClr val="dk1">
                      <a:alpha val="40000"/>
                    </a:schemeClr>
                  </a:outerShdw>
                </a:effectLst>
              </a:rPr>
              <a:t>      AVERAGE(Electric Range Others)</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marL="571500" indent="-571500" algn="just">
              <a:buFont typeface="Arial" panose="020B0604020202020204" pitchFamily="34" charset="0"/>
              <a:buChar char="•"/>
            </a:pPr>
            <a:r>
              <a:rPr lang="en-US" sz="3600" dirty="0">
                <a:ln w="0"/>
                <a:effectLst>
                  <a:outerShdw blurRad="38100" dist="19050" dir="2700000" algn="tl" rotWithShape="0">
                    <a:schemeClr val="dk1">
                      <a:alpha val="40000"/>
                    </a:schemeClr>
                  </a:outerShdw>
                </a:effectLst>
              </a:rPr>
              <a:t> Tesla CAFV Eligibility vs Others = (Tesla CAFV Rate) – (Other EV CAFV Rate)</a:t>
            </a:r>
          </a:p>
          <a:p>
            <a:pPr marL="571500" indent="-571500" algn="just">
              <a:buFont typeface="Arial" panose="020B0604020202020204" pitchFamily="34" charset="0"/>
              <a:buChar char="•"/>
            </a:pPr>
            <a:endParaRPr lang="en-US" sz="3600" dirty="0">
              <a:ln w="0"/>
              <a:effectLst>
                <a:outerShdw blurRad="38100" dist="19050" dir="2700000" algn="tl" rotWithShape="0">
                  <a:schemeClr val="dk1">
                    <a:alpha val="40000"/>
                  </a:schemeClr>
                </a:outerShdw>
              </a:effectLst>
            </a:endParaRPr>
          </a:p>
          <a:p>
            <a:pPr algn="just"/>
            <a:endParaRPr lang="en-US" sz="36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08086928"/>
      </p:ext>
    </p:extLst>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750" fill="hold"/>
                                        <p:tgtEl>
                                          <p:spTgt spid="10"/>
                                        </p:tgtEl>
                                        <p:attrNameLst>
                                          <p:attrName>ppt_x</p:attrName>
                                        </p:attrNameLst>
                                      </p:cBhvr>
                                      <p:tavLst>
                                        <p:tav tm="0">
                                          <p:val>
                                            <p:strVal val="#ppt_x"/>
                                          </p:val>
                                        </p:tav>
                                        <p:tav tm="100000">
                                          <p:val>
                                            <p:strVal val="#ppt_x"/>
                                          </p:val>
                                        </p:tav>
                                      </p:tavLst>
                                    </p:anim>
                                    <p:anim calcmode="lin" valueType="num">
                                      <p:cBhvr additive="base">
                                        <p:cTn id="8" dur="75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1+#ppt_w/2"/>
                                          </p:val>
                                        </p:tav>
                                        <p:tav tm="100000">
                                          <p:val>
                                            <p:strVal val="#ppt_x"/>
                                          </p:val>
                                        </p:tav>
                                      </p:tavLst>
                                    </p:anim>
                                    <p:anim calcmode="lin" valueType="num">
                                      <p:cBhvr additive="base">
                                        <p:cTn id="12" dur="75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1250"/>
                            </p:stCondLst>
                            <p:childTnLst>
                              <p:par>
                                <p:cTn id="21" presetID="10" presetClass="entr" presetSubtype="0" fill="hold" grpId="0" nodeType="after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Effect transition="in" filter="fade">
                                      <p:cBhvr>
                                        <p:cTn id="23" dur="500"/>
                                        <p:tgtEl>
                                          <p:spTgt spid="2">
                                            <p:txEl>
                                              <p:pRg st="0" end="0"/>
                                            </p:txEl>
                                          </p:spTgt>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animEffect transition="in" filter="fade">
                                      <p:cBhvr>
                                        <p:cTn id="27" dur="500"/>
                                        <p:tgtEl>
                                          <p:spTgt spid="2">
                                            <p:txEl>
                                              <p:pRg st="1" end="1"/>
                                            </p:txEl>
                                          </p:spTgt>
                                        </p:tgtEl>
                                      </p:cBhvr>
                                    </p:animEffect>
                                  </p:childTnLst>
                                </p:cTn>
                              </p:par>
                            </p:childTnLst>
                          </p:cTn>
                        </p:par>
                        <p:par>
                          <p:cTn id="28" fill="hold">
                            <p:stCondLst>
                              <p:cond delay="2250"/>
                            </p:stCondLst>
                            <p:childTnLst>
                              <p:par>
                                <p:cTn id="29" presetID="10" presetClass="entr" presetSubtype="0" fill="hold" grpId="0" nodeType="after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fade">
                                      <p:cBhvr>
                                        <p:cTn id="31" dur="500"/>
                                        <p:tgtEl>
                                          <p:spTgt spid="2">
                                            <p:txEl>
                                              <p:pRg st="2" end="2"/>
                                            </p:txEl>
                                          </p:spTgt>
                                        </p:tgtEl>
                                      </p:cBhvr>
                                    </p:animEffect>
                                  </p:childTnLst>
                                </p:cTn>
                              </p:par>
                            </p:childTnLst>
                          </p:cTn>
                        </p:par>
                        <p:par>
                          <p:cTn id="32" fill="hold">
                            <p:stCondLst>
                              <p:cond delay="2750"/>
                            </p:stCondLst>
                            <p:childTnLst>
                              <p:par>
                                <p:cTn id="33" presetID="10" presetClass="entr" presetSubtype="0" fill="hold" grpId="0" nodeType="after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500"/>
                                        <p:tgtEl>
                                          <p:spTgt spid="2">
                                            <p:txEl>
                                              <p:pRg st="4" end="4"/>
                                            </p:txEl>
                                          </p:spTgt>
                                        </p:tgtEl>
                                      </p:cBhvr>
                                    </p:animEffect>
                                  </p:childTnLst>
                                </p:cTn>
                              </p:par>
                            </p:childTnLst>
                          </p:cTn>
                        </p:par>
                        <p:par>
                          <p:cTn id="36" fill="hold">
                            <p:stCondLst>
                              <p:cond delay="3250"/>
                            </p:stCondLst>
                            <p:childTnLst>
                              <p:par>
                                <p:cTn id="37" presetID="10" presetClass="entr" presetSubtype="0" fill="hold" grpId="0" nodeType="afterEffect">
                                  <p:stCondLst>
                                    <p:cond delay="0"/>
                                  </p:stCondLst>
                                  <p:childTnLst>
                                    <p:set>
                                      <p:cBhvr>
                                        <p:cTn id="38" dur="1" fill="hold">
                                          <p:stCondLst>
                                            <p:cond delay="0"/>
                                          </p:stCondLst>
                                        </p:cTn>
                                        <p:tgtEl>
                                          <p:spTgt spid="2">
                                            <p:txEl>
                                              <p:pRg st="5" end="5"/>
                                            </p:txEl>
                                          </p:spTgt>
                                        </p:tgtEl>
                                        <p:attrNameLst>
                                          <p:attrName>style.visibility</p:attrName>
                                        </p:attrNameLst>
                                      </p:cBhvr>
                                      <p:to>
                                        <p:strVal val="visible"/>
                                      </p:to>
                                    </p:set>
                                    <p:animEffect transition="in" filter="fade">
                                      <p:cBhvr>
                                        <p:cTn id="39" dur="500"/>
                                        <p:tgtEl>
                                          <p:spTgt spid="2">
                                            <p:txEl>
                                              <p:pRg st="5" end="5"/>
                                            </p:txEl>
                                          </p:spTgt>
                                        </p:tgtEl>
                                      </p:cBhvr>
                                    </p:animEffect>
                                  </p:childTnLst>
                                </p:cTn>
                              </p:par>
                            </p:childTnLst>
                          </p:cTn>
                        </p:par>
                        <p:par>
                          <p:cTn id="40" fill="hold">
                            <p:stCondLst>
                              <p:cond delay="3750"/>
                            </p:stCondLst>
                            <p:childTnLst>
                              <p:par>
                                <p:cTn id="41" presetID="10" presetClass="entr" presetSubtype="0" fill="hold" grpId="0" nodeType="after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animEffect transition="in" filter="fade">
                                      <p:cBhvr>
                                        <p:cTn id="43"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animBg="1"/>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957323" y="4093212"/>
            <a:ext cx="8373354" cy="1192634"/>
          </a:xfrm>
          <a:prstGeom prst="rect">
            <a:avLst/>
          </a:prstGeom>
        </p:spPr>
        <p:txBody>
          <a:bodyPr lIns="0" tIns="0" rIns="0" bIns="0" rtlCol="0" anchor="t">
            <a:spAutoFit/>
          </a:bodyPr>
          <a:lstStyle/>
          <a:p>
            <a:pPr algn="ctr">
              <a:lnSpc>
                <a:spcPts val="7800"/>
              </a:lnSpc>
            </a:pPr>
            <a:r>
              <a:rPr lang="en-US" sz="11500" b="1" dirty="0">
                <a:solidFill>
                  <a:srgbClr val="8D0000"/>
                </a:solidFill>
                <a:latin typeface="Perpetua" panose="02020502060401020303" pitchFamily="18" charset="0"/>
                <a:ea typeface="Poppins Bold"/>
                <a:cs typeface="Poppins Bold"/>
                <a:sym typeface="Poppins Bold"/>
              </a:rPr>
              <a:t>THANK YOU</a:t>
            </a:r>
          </a:p>
        </p:txBody>
      </p:sp>
      <p:grpSp>
        <p:nvGrpSpPr>
          <p:cNvPr id="10" name="Group 10"/>
          <p:cNvGrpSpPr/>
          <p:nvPr/>
        </p:nvGrpSpPr>
        <p:grpSpPr>
          <a:xfrm rot="-3503507">
            <a:off x="-2356457" y="6564794"/>
            <a:ext cx="5968439" cy="2484763"/>
            <a:chOff x="0" y="0"/>
            <a:chExt cx="1571935" cy="654423"/>
          </a:xfrm>
        </p:grpSpPr>
        <p:sp>
          <p:nvSpPr>
            <p:cNvPr id="11" name="Freeform 11"/>
            <p:cNvSpPr/>
            <p:nvPr/>
          </p:nvSpPr>
          <p:spPr>
            <a:xfrm>
              <a:off x="0" y="0"/>
              <a:ext cx="1571935" cy="654423"/>
            </a:xfrm>
            <a:custGeom>
              <a:avLst/>
              <a:gdLst/>
              <a:ahLst/>
              <a:cxnLst/>
              <a:rect l="l" t="t" r="r" b="b"/>
              <a:pathLst>
                <a:path w="1571935" h="654423">
                  <a:moveTo>
                    <a:pt x="66154" y="0"/>
                  </a:moveTo>
                  <a:lnTo>
                    <a:pt x="1505780" y="0"/>
                  </a:lnTo>
                  <a:cubicBezTo>
                    <a:pt x="1523326" y="0"/>
                    <a:pt x="1540152" y="6970"/>
                    <a:pt x="1552558" y="19376"/>
                  </a:cubicBezTo>
                  <a:cubicBezTo>
                    <a:pt x="1564965" y="31782"/>
                    <a:pt x="1571935" y="48609"/>
                    <a:pt x="1571935" y="66154"/>
                  </a:cubicBezTo>
                  <a:lnTo>
                    <a:pt x="1571935" y="588269"/>
                  </a:lnTo>
                  <a:cubicBezTo>
                    <a:pt x="1571935" y="624805"/>
                    <a:pt x="1542316" y="654423"/>
                    <a:pt x="1505780" y="654423"/>
                  </a:cubicBezTo>
                  <a:lnTo>
                    <a:pt x="66154" y="654423"/>
                  </a:lnTo>
                  <a:cubicBezTo>
                    <a:pt x="29618" y="654423"/>
                    <a:pt x="0" y="624805"/>
                    <a:pt x="0" y="588269"/>
                  </a:cubicBezTo>
                  <a:lnTo>
                    <a:pt x="0" y="66154"/>
                  </a:lnTo>
                  <a:cubicBezTo>
                    <a:pt x="0" y="29618"/>
                    <a:pt x="29618" y="0"/>
                    <a:pt x="66154" y="0"/>
                  </a:cubicBezTo>
                  <a:close/>
                </a:path>
              </a:pathLst>
            </a:custGeom>
            <a:solidFill>
              <a:srgbClr val="FFE9E9"/>
            </a:solidFill>
          </p:spPr>
          <p:txBody>
            <a:bodyPr/>
            <a:lstStyle/>
            <a:p>
              <a:endParaRPr lang="en-US"/>
            </a:p>
          </p:txBody>
        </p:sp>
        <p:sp>
          <p:nvSpPr>
            <p:cNvPr id="12" name="TextBox 12"/>
            <p:cNvSpPr txBox="1"/>
            <p:nvPr/>
          </p:nvSpPr>
          <p:spPr>
            <a:xfrm>
              <a:off x="0" y="-333375"/>
              <a:ext cx="1571935" cy="987798"/>
            </a:xfrm>
            <a:prstGeom prst="rect">
              <a:avLst/>
            </a:prstGeom>
          </p:spPr>
          <p:txBody>
            <a:bodyPr lIns="50800" tIns="50800" rIns="50800" bIns="50800" rtlCol="0" anchor="ctr"/>
            <a:lstStyle/>
            <a:p>
              <a:pPr algn="ctr">
                <a:lnSpc>
                  <a:spcPts val="6249"/>
                </a:lnSpc>
              </a:pPr>
              <a:endParaRPr/>
            </a:p>
          </p:txBody>
        </p:sp>
      </p:grpSp>
      <p:grpSp>
        <p:nvGrpSpPr>
          <p:cNvPr id="16" name="Group 8">
            <a:extLst>
              <a:ext uri="{FF2B5EF4-FFF2-40B4-BE49-F238E27FC236}">
                <a16:creationId xmlns:a16="http://schemas.microsoft.com/office/drawing/2014/main" id="{C98AE1D4-7AD4-6A81-865E-6BC4C9DB6C36}"/>
              </a:ext>
            </a:extLst>
          </p:cNvPr>
          <p:cNvGrpSpPr/>
          <p:nvPr/>
        </p:nvGrpSpPr>
        <p:grpSpPr>
          <a:xfrm rot="-3503507">
            <a:off x="551042" y="-1554003"/>
            <a:ext cx="5068421" cy="1710448"/>
            <a:chOff x="0" y="0"/>
            <a:chExt cx="1334893" cy="450488"/>
          </a:xfrm>
        </p:grpSpPr>
        <p:sp>
          <p:nvSpPr>
            <p:cNvPr id="17" name="Freeform 9">
              <a:extLst>
                <a:ext uri="{FF2B5EF4-FFF2-40B4-BE49-F238E27FC236}">
                  <a16:creationId xmlns:a16="http://schemas.microsoft.com/office/drawing/2014/main" id="{0F9A9917-6841-BBF7-DE06-F5259C7641E7}"/>
                </a:ext>
              </a:extLst>
            </p:cNvPr>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18" name="TextBox 10">
              <a:extLst>
                <a:ext uri="{FF2B5EF4-FFF2-40B4-BE49-F238E27FC236}">
                  <a16:creationId xmlns:a16="http://schemas.microsoft.com/office/drawing/2014/main" id="{84EF94F1-4F9E-A890-B32E-E833FA8780DD}"/>
                </a:ext>
              </a:extLst>
            </p:cNvPr>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sp>
        <p:nvSpPr>
          <p:cNvPr id="19" name="Freeform 3">
            <a:extLst>
              <a:ext uri="{FF2B5EF4-FFF2-40B4-BE49-F238E27FC236}">
                <a16:creationId xmlns:a16="http://schemas.microsoft.com/office/drawing/2014/main" id="{C1046F9E-B3C9-D0B8-F874-DF3313B7A68C}"/>
              </a:ext>
            </a:extLst>
          </p:cNvPr>
          <p:cNvSpPr/>
          <p:nvPr/>
        </p:nvSpPr>
        <p:spPr>
          <a:xfrm rot="18988055">
            <a:off x="15262400" y="6457233"/>
            <a:ext cx="7658100" cy="1878865"/>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txBody>
          <a:bodyPr/>
          <a:lstStyle/>
          <a:p>
            <a:endParaRPr lang="en-US" dirty="0"/>
          </a:p>
        </p:txBody>
      </p:sp>
      <p:grpSp>
        <p:nvGrpSpPr>
          <p:cNvPr id="20" name="Group 8">
            <a:extLst>
              <a:ext uri="{FF2B5EF4-FFF2-40B4-BE49-F238E27FC236}">
                <a16:creationId xmlns:a16="http://schemas.microsoft.com/office/drawing/2014/main" id="{17B0C5BE-F26D-BF3B-C426-7977A68B0903}"/>
              </a:ext>
            </a:extLst>
          </p:cNvPr>
          <p:cNvGrpSpPr/>
          <p:nvPr/>
        </p:nvGrpSpPr>
        <p:grpSpPr>
          <a:xfrm rot="-3503507">
            <a:off x="3560943" y="-1473992"/>
            <a:ext cx="5068421" cy="1710448"/>
            <a:chOff x="0" y="0"/>
            <a:chExt cx="1334893" cy="450488"/>
          </a:xfrm>
        </p:grpSpPr>
        <p:sp>
          <p:nvSpPr>
            <p:cNvPr id="21" name="Freeform 9">
              <a:extLst>
                <a:ext uri="{FF2B5EF4-FFF2-40B4-BE49-F238E27FC236}">
                  <a16:creationId xmlns:a16="http://schemas.microsoft.com/office/drawing/2014/main" id="{085973DC-DE02-6997-ECA8-7A72A79BECD6}"/>
                </a:ext>
              </a:extLst>
            </p:cNvPr>
            <p:cNvSpPr/>
            <p:nvPr/>
          </p:nvSpPr>
          <p:spPr>
            <a:xfrm>
              <a:off x="0" y="0"/>
              <a:ext cx="1334893" cy="450488"/>
            </a:xfrm>
            <a:custGeom>
              <a:avLst/>
              <a:gdLst/>
              <a:ahLst/>
              <a:cxnLst/>
              <a:rect l="l" t="t" r="r" b="b"/>
              <a:pathLst>
                <a:path w="1334893" h="450488">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txBody>
            <a:bodyPr/>
            <a:lstStyle/>
            <a:p>
              <a:endParaRPr lang="en-US"/>
            </a:p>
          </p:txBody>
        </p:sp>
        <p:sp>
          <p:nvSpPr>
            <p:cNvPr id="22" name="TextBox 10">
              <a:extLst>
                <a:ext uri="{FF2B5EF4-FFF2-40B4-BE49-F238E27FC236}">
                  <a16:creationId xmlns:a16="http://schemas.microsoft.com/office/drawing/2014/main" id="{DB7DE1F3-51FA-FCD5-3654-B8340434AD5E}"/>
                </a:ext>
              </a:extLst>
            </p:cNvPr>
            <p:cNvSpPr txBox="1"/>
            <p:nvPr/>
          </p:nvSpPr>
          <p:spPr>
            <a:xfrm>
              <a:off x="0" y="-333375"/>
              <a:ext cx="1334893" cy="783863"/>
            </a:xfrm>
            <a:prstGeom prst="rect">
              <a:avLst/>
            </a:prstGeom>
          </p:spPr>
          <p:txBody>
            <a:bodyPr lIns="50800" tIns="50800" rIns="50800" bIns="50800" rtlCol="0" anchor="ctr"/>
            <a:lstStyle/>
            <a:p>
              <a:pPr algn="ctr">
                <a:lnSpc>
                  <a:spcPts val="6249"/>
                </a:lnSpc>
              </a:pPr>
              <a:endParaRPr/>
            </a:p>
          </p:txBody>
        </p:sp>
      </p:grpSp>
      <p:sp>
        <p:nvSpPr>
          <p:cNvPr id="23" name="Freeform 3">
            <a:extLst>
              <a:ext uri="{FF2B5EF4-FFF2-40B4-BE49-F238E27FC236}">
                <a16:creationId xmlns:a16="http://schemas.microsoft.com/office/drawing/2014/main" id="{3D167C8A-512E-FAD3-80C4-59C4EE9CB0DF}"/>
              </a:ext>
            </a:extLst>
          </p:cNvPr>
          <p:cNvSpPr/>
          <p:nvPr/>
        </p:nvSpPr>
        <p:spPr>
          <a:xfrm rot="18988055">
            <a:off x="13479011" y="4818797"/>
            <a:ext cx="7658100" cy="1978123"/>
          </a:xfrm>
          <a:custGeom>
            <a:avLst/>
            <a:gdLst/>
            <a:ahLst/>
            <a:cxnLst/>
            <a:rect l="l" t="t" r="r" b="b"/>
            <a:pathLst>
              <a:path w="2016948" h="1429209">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chemeClr val="accent2">
              <a:lumMod val="40000"/>
              <a:lumOff val="60000"/>
            </a:schemeClr>
          </a:solidFill>
        </p:spPr>
        <p:txBody>
          <a:bodyPr/>
          <a:lstStyle/>
          <a:p>
            <a:endParaRPr lang="en-US" dirty="0"/>
          </a:p>
        </p:txBody>
      </p:sp>
      <p:sp>
        <p:nvSpPr>
          <p:cNvPr id="25" name="Freeform 11">
            <a:extLst>
              <a:ext uri="{FF2B5EF4-FFF2-40B4-BE49-F238E27FC236}">
                <a16:creationId xmlns:a16="http://schemas.microsoft.com/office/drawing/2014/main" id="{0CF51D27-BC32-2383-E874-B34C1DC5C0C4}"/>
              </a:ext>
            </a:extLst>
          </p:cNvPr>
          <p:cNvSpPr/>
          <p:nvPr/>
        </p:nvSpPr>
        <p:spPr>
          <a:xfrm rot="18096493">
            <a:off x="531611" y="7919848"/>
            <a:ext cx="5968439" cy="2484763"/>
          </a:xfrm>
          <a:custGeom>
            <a:avLst/>
            <a:gdLst/>
            <a:ahLst/>
            <a:cxnLst/>
            <a:rect l="l" t="t" r="r" b="b"/>
            <a:pathLst>
              <a:path w="1571935" h="654423">
                <a:moveTo>
                  <a:pt x="66154" y="0"/>
                </a:moveTo>
                <a:lnTo>
                  <a:pt x="1505780" y="0"/>
                </a:lnTo>
                <a:cubicBezTo>
                  <a:pt x="1523326" y="0"/>
                  <a:pt x="1540152" y="6970"/>
                  <a:pt x="1552558" y="19376"/>
                </a:cubicBezTo>
                <a:cubicBezTo>
                  <a:pt x="1564965" y="31782"/>
                  <a:pt x="1571935" y="48609"/>
                  <a:pt x="1571935" y="66154"/>
                </a:cubicBezTo>
                <a:lnTo>
                  <a:pt x="1571935" y="588269"/>
                </a:lnTo>
                <a:cubicBezTo>
                  <a:pt x="1571935" y="624805"/>
                  <a:pt x="1542316" y="654423"/>
                  <a:pt x="1505780" y="654423"/>
                </a:cubicBezTo>
                <a:lnTo>
                  <a:pt x="66154" y="654423"/>
                </a:lnTo>
                <a:cubicBezTo>
                  <a:pt x="29618" y="654423"/>
                  <a:pt x="0" y="624805"/>
                  <a:pt x="0" y="588269"/>
                </a:cubicBezTo>
                <a:lnTo>
                  <a:pt x="0" y="66154"/>
                </a:lnTo>
                <a:cubicBezTo>
                  <a:pt x="0" y="29618"/>
                  <a:pt x="29618" y="0"/>
                  <a:pt x="66154" y="0"/>
                </a:cubicBezTo>
                <a:close/>
              </a:path>
            </a:pathLst>
          </a:custGeom>
          <a:solidFill>
            <a:schemeClr val="accent2">
              <a:lumMod val="60000"/>
              <a:lumOff val="40000"/>
            </a:schemeClr>
          </a:solidFill>
        </p:spPr>
        <p:txBody>
          <a:bodyPr/>
          <a:lstStyle/>
          <a:p>
            <a:endParaRPr lang="en-US" dirty="0"/>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750" fill="hold"/>
                                        <p:tgtEl>
                                          <p:spTgt spid="16"/>
                                        </p:tgtEl>
                                        <p:attrNameLst>
                                          <p:attrName>ppt_x</p:attrName>
                                        </p:attrNameLst>
                                      </p:cBhvr>
                                      <p:tavLst>
                                        <p:tav tm="0">
                                          <p:val>
                                            <p:strVal val="#ppt_x"/>
                                          </p:val>
                                        </p:tav>
                                        <p:tav tm="100000">
                                          <p:val>
                                            <p:strVal val="#ppt_x"/>
                                          </p:val>
                                        </p:tav>
                                      </p:tavLst>
                                    </p:anim>
                                    <p:anim calcmode="lin" valueType="num">
                                      <p:cBhvr additive="base">
                                        <p:cTn id="8" dur="750" fill="hold"/>
                                        <p:tgtEl>
                                          <p:spTgt spid="16"/>
                                        </p:tgtEl>
                                        <p:attrNameLst>
                                          <p:attrName>ppt_y</p:attrName>
                                        </p:attrNameLst>
                                      </p:cBhvr>
                                      <p:tavLst>
                                        <p:tav tm="0">
                                          <p:val>
                                            <p:strVal val="0-#ppt_h/2"/>
                                          </p:val>
                                        </p:tav>
                                        <p:tav tm="100000">
                                          <p:val>
                                            <p:strVal val="#ppt_y"/>
                                          </p:val>
                                        </p:tav>
                                      </p:tavLst>
                                    </p:anim>
                                  </p:childTnLst>
                                </p:cTn>
                              </p:par>
                            </p:childTnLst>
                          </p:cTn>
                        </p:par>
                        <p:par>
                          <p:cTn id="9" fill="hold">
                            <p:stCondLst>
                              <p:cond delay="750"/>
                            </p:stCondLst>
                            <p:childTnLst>
                              <p:par>
                                <p:cTn id="10" presetID="2" presetClass="entr" presetSubtype="1"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750" fill="hold"/>
                                        <p:tgtEl>
                                          <p:spTgt spid="20"/>
                                        </p:tgtEl>
                                        <p:attrNameLst>
                                          <p:attrName>ppt_x</p:attrName>
                                        </p:attrNameLst>
                                      </p:cBhvr>
                                      <p:tavLst>
                                        <p:tav tm="0">
                                          <p:val>
                                            <p:strVal val="#ppt_x"/>
                                          </p:val>
                                        </p:tav>
                                        <p:tav tm="100000">
                                          <p:val>
                                            <p:strVal val="#ppt_x"/>
                                          </p:val>
                                        </p:tav>
                                      </p:tavLst>
                                    </p:anim>
                                    <p:anim calcmode="lin" valueType="num">
                                      <p:cBhvr additive="base">
                                        <p:cTn id="13" dur="750" fill="hold"/>
                                        <p:tgtEl>
                                          <p:spTgt spid="20"/>
                                        </p:tgtEl>
                                        <p:attrNameLst>
                                          <p:attrName>ppt_y</p:attrName>
                                        </p:attrNameLst>
                                      </p:cBhvr>
                                      <p:tavLst>
                                        <p:tav tm="0">
                                          <p:val>
                                            <p:strVal val="0-#ppt_h/2"/>
                                          </p:val>
                                        </p:tav>
                                        <p:tav tm="100000">
                                          <p:val>
                                            <p:strVal val="#ppt_y"/>
                                          </p:val>
                                        </p:tav>
                                      </p:tavLst>
                                    </p:anim>
                                  </p:childTnLst>
                                </p:cTn>
                              </p:par>
                            </p:childTnLst>
                          </p:cTn>
                        </p:par>
                        <p:par>
                          <p:cTn id="14" fill="hold">
                            <p:stCondLst>
                              <p:cond delay="1500"/>
                            </p:stCondLst>
                            <p:childTnLst>
                              <p:par>
                                <p:cTn id="15" presetID="2" presetClass="entr" presetSubtype="4"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750" fill="hold"/>
                                        <p:tgtEl>
                                          <p:spTgt spid="10"/>
                                        </p:tgtEl>
                                        <p:attrNameLst>
                                          <p:attrName>ppt_x</p:attrName>
                                        </p:attrNameLst>
                                      </p:cBhvr>
                                      <p:tavLst>
                                        <p:tav tm="0">
                                          <p:val>
                                            <p:strVal val="#ppt_x"/>
                                          </p:val>
                                        </p:tav>
                                        <p:tav tm="100000">
                                          <p:val>
                                            <p:strVal val="#ppt_x"/>
                                          </p:val>
                                        </p:tav>
                                      </p:tavLst>
                                    </p:anim>
                                    <p:anim calcmode="lin" valueType="num">
                                      <p:cBhvr additive="base">
                                        <p:cTn id="18" dur="750" fill="hold"/>
                                        <p:tgtEl>
                                          <p:spTgt spid="10"/>
                                        </p:tgtEl>
                                        <p:attrNameLst>
                                          <p:attrName>ppt_y</p:attrName>
                                        </p:attrNameLst>
                                      </p:cBhvr>
                                      <p:tavLst>
                                        <p:tav tm="0">
                                          <p:val>
                                            <p:strVal val="1+#ppt_h/2"/>
                                          </p:val>
                                        </p:tav>
                                        <p:tav tm="100000">
                                          <p:val>
                                            <p:strVal val="#ppt_y"/>
                                          </p:val>
                                        </p:tav>
                                      </p:tavLst>
                                    </p:anim>
                                  </p:childTnLst>
                                </p:cTn>
                              </p:par>
                            </p:childTnLst>
                          </p:cTn>
                        </p:par>
                        <p:par>
                          <p:cTn id="19" fill="hold">
                            <p:stCondLst>
                              <p:cond delay="2250"/>
                            </p:stCondLst>
                            <p:childTnLst>
                              <p:par>
                                <p:cTn id="20" presetID="2" presetClass="entr" presetSubtype="4" fill="hold" grpId="0" nodeType="after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additive="base">
                                        <p:cTn id="22" dur="750" fill="hold"/>
                                        <p:tgtEl>
                                          <p:spTgt spid="25"/>
                                        </p:tgtEl>
                                        <p:attrNameLst>
                                          <p:attrName>ppt_x</p:attrName>
                                        </p:attrNameLst>
                                      </p:cBhvr>
                                      <p:tavLst>
                                        <p:tav tm="0">
                                          <p:val>
                                            <p:strVal val="#ppt_x"/>
                                          </p:val>
                                        </p:tav>
                                        <p:tav tm="100000">
                                          <p:val>
                                            <p:strVal val="#ppt_x"/>
                                          </p:val>
                                        </p:tav>
                                      </p:tavLst>
                                    </p:anim>
                                    <p:anim calcmode="lin" valueType="num">
                                      <p:cBhvr additive="base">
                                        <p:cTn id="23" dur="750" fill="hold"/>
                                        <p:tgtEl>
                                          <p:spTgt spid="25"/>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75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750" fill="hold"/>
                                        <p:tgtEl>
                                          <p:spTgt spid="19"/>
                                        </p:tgtEl>
                                        <p:attrNameLst>
                                          <p:attrName>ppt_x</p:attrName>
                                        </p:attrNameLst>
                                      </p:cBhvr>
                                      <p:tavLst>
                                        <p:tav tm="0">
                                          <p:val>
                                            <p:strVal val="#ppt_x"/>
                                          </p:val>
                                        </p:tav>
                                        <p:tav tm="100000">
                                          <p:val>
                                            <p:strVal val="#ppt_x"/>
                                          </p:val>
                                        </p:tav>
                                      </p:tavLst>
                                    </p:anim>
                                    <p:anim calcmode="lin" valueType="num">
                                      <p:cBhvr additive="base">
                                        <p:cTn id="27" dur="75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250"/>
                                  </p:stCondLst>
                                  <p:childTnLst>
                                    <p:set>
                                      <p:cBhvr>
                                        <p:cTn id="29" dur="1" fill="hold">
                                          <p:stCondLst>
                                            <p:cond delay="0"/>
                                          </p:stCondLst>
                                        </p:cTn>
                                        <p:tgtEl>
                                          <p:spTgt spid="23"/>
                                        </p:tgtEl>
                                        <p:attrNameLst>
                                          <p:attrName>style.visibility</p:attrName>
                                        </p:attrNameLst>
                                      </p:cBhvr>
                                      <p:to>
                                        <p:strVal val="visible"/>
                                      </p:to>
                                    </p:set>
                                    <p:anim calcmode="lin" valueType="num">
                                      <p:cBhvr additive="base">
                                        <p:cTn id="30" dur="750" fill="hold"/>
                                        <p:tgtEl>
                                          <p:spTgt spid="23"/>
                                        </p:tgtEl>
                                        <p:attrNameLst>
                                          <p:attrName>ppt_x</p:attrName>
                                        </p:attrNameLst>
                                      </p:cBhvr>
                                      <p:tavLst>
                                        <p:tav tm="0">
                                          <p:val>
                                            <p:strVal val="#ppt_x"/>
                                          </p:val>
                                        </p:tav>
                                        <p:tav tm="100000">
                                          <p:val>
                                            <p:strVal val="#ppt_x"/>
                                          </p:val>
                                        </p:tav>
                                      </p:tavLst>
                                    </p:anim>
                                    <p:anim calcmode="lin" valueType="num">
                                      <p:cBhvr additive="base">
                                        <p:cTn id="31" dur="750" fill="hold"/>
                                        <p:tgtEl>
                                          <p:spTgt spid="23"/>
                                        </p:tgtEl>
                                        <p:attrNameLst>
                                          <p:attrName>ppt_y</p:attrName>
                                        </p:attrNameLst>
                                      </p:cBhvr>
                                      <p:tavLst>
                                        <p:tav tm="0">
                                          <p:val>
                                            <p:strVal val="1+#ppt_h/2"/>
                                          </p:val>
                                        </p:tav>
                                        <p:tav tm="100000">
                                          <p:val>
                                            <p:strVal val="#ppt_y"/>
                                          </p:val>
                                        </p:tav>
                                      </p:tavLst>
                                    </p:anim>
                                  </p:childTnLst>
                                </p:cTn>
                              </p:par>
                            </p:childTnLst>
                          </p:cTn>
                        </p:par>
                        <p:par>
                          <p:cTn id="32" fill="hold">
                            <p:stCondLst>
                              <p:cond delay="3750"/>
                            </p:stCondLst>
                            <p:childTnLst>
                              <p:par>
                                <p:cTn id="33" presetID="53" presetClass="entr" presetSubtype="528" fill="hold" grpId="0" nodeType="after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1000" fill="hold"/>
                                        <p:tgtEl>
                                          <p:spTgt spid="2"/>
                                        </p:tgtEl>
                                        <p:attrNameLst>
                                          <p:attrName>ppt_w</p:attrName>
                                        </p:attrNameLst>
                                      </p:cBhvr>
                                      <p:tavLst>
                                        <p:tav tm="0">
                                          <p:val>
                                            <p:fltVal val="0"/>
                                          </p:val>
                                        </p:tav>
                                        <p:tav tm="100000">
                                          <p:val>
                                            <p:strVal val="#ppt_w"/>
                                          </p:val>
                                        </p:tav>
                                      </p:tavLst>
                                    </p:anim>
                                    <p:anim calcmode="lin" valueType="num">
                                      <p:cBhvr>
                                        <p:cTn id="36" dur="1000" fill="hold"/>
                                        <p:tgtEl>
                                          <p:spTgt spid="2"/>
                                        </p:tgtEl>
                                        <p:attrNameLst>
                                          <p:attrName>ppt_h</p:attrName>
                                        </p:attrNameLst>
                                      </p:cBhvr>
                                      <p:tavLst>
                                        <p:tav tm="0">
                                          <p:val>
                                            <p:fltVal val="0"/>
                                          </p:val>
                                        </p:tav>
                                        <p:tav tm="100000">
                                          <p:val>
                                            <p:strVal val="#ppt_h"/>
                                          </p:val>
                                        </p:tav>
                                      </p:tavLst>
                                    </p:anim>
                                    <p:animEffect transition="in" filter="fade">
                                      <p:cBhvr>
                                        <p:cTn id="37" dur="1000"/>
                                        <p:tgtEl>
                                          <p:spTgt spid="2"/>
                                        </p:tgtEl>
                                      </p:cBhvr>
                                    </p:animEffect>
                                    <p:anim calcmode="lin" valueType="num">
                                      <p:cBhvr>
                                        <p:cTn id="38" dur="1000" fill="hold"/>
                                        <p:tgtEl>
                                          <p:spTgt spid="2"/>
                                        </p:tgtEl>
                                        <p:attrNameLst>
                                          <p:attrName>ppt_x</p:attrName>
                                        </p:attrNameLst>
                                      </p:cBhvr>
                                      <p:tavLst>
                                        <p:tav tm="0">
                                          <p:val>
                                            <p:fltVal val="0.5"/>
                                          </p:val>
                                        </p:tav>
                                        <p:tav tm="100000">
                                          <p:val>
                                            <p:strVal val="#ppt_x"/>
                                          </p:val>
                                        </p:tav>
                                      </p:tavLst>
                                    </p:anim>
                                    <p:anim calcmode="lin" valueType="num">
                                      <p:cBhvr>
                                        <p:cTn id="39" dur="1000" fill="hold"/>
                                        <p:tgtEl>
                                          <p:spTgt spid="2"/>
                                        </p:tgtEl>
                                        <p:attrNameLst>
                                          <p:attrName>ppt_y</p:attrName>
                                        </p:attrNameLst>
                                      </p:cBhvr>
                                      <p:tavLst>
                                        <p:tav tm="0">
                                          <p:val>
                                            <p:fltVal val="0.5"/>
                                          </p:val>
                                        </p:tav>
                                        <p:tav tm="100000">
                                          <p:val>
                                            <p:strVal val="#ppt_y"/>
                                          </p:val>
                                        </p:tav>
                                      </p:tavLst>
                                    </p:anim>
                                  </p:childTnLst>
                                </p:cTn>
                              </p:par>
                              <p:par>
                                <p:cTn id="40" presetID="6" presetClass="emph" presetSubtype="0" fill="hold" grpId="1" nodeType="withEffect">
                                  <p:stCondLst>
                                    <p:cond delay="750"/>
                                  </p:stCondLst>
                                  <p:childTnLst>
                                    <p:animScale>
                                      <p:cBhvr>
                                        <p:cTn id="41" dur="175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9" grpId="0" animBg="1"/>
      <p:bldP spid="23" grpId="0" animBg="1"/>
      <p:bldP spid="2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903</TotalTime>
  <Words>718</Words>
  <Application>Microsoft Office PowerPoint</Application>
  <PresentationFormat>Custom</PresentationFormat>
  <Paragraphs>83</Paragraphs>
  <Slides>12</Slides>
  <Notes>4</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&amp; White Geometric Bold Simple Company Profile Presentation</dc:title>
  <cp:lastModifiedBy>Sarah Kamal</cp:lastModifiedBy>
  <cp:revision>37</cp:revision>
  <dcterms:created xsi:type="dcterms:W3CDTF">2006-08-16T00:00:00Z</dcterms:created>
  <dcterms:modified xsi:type="dcterms:W3CDTF">2025-12-07T21:26:23Z</dcterms:modified>
  <dc:identifier>DAG0wOV4Lgo</dc:identifier>
</cp:coreProperties>
</file>